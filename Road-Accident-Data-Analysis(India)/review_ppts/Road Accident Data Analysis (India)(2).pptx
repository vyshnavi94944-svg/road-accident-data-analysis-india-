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74" r:id="rId6"/>
    <p:sldId id="279" r:id="rId7"/>
    <p:sldId id="276" r:id="rId8"/>
    <p:sldId id="280" r:id="rId9"/>
    <p:sldId id="278" r:id="rId10"/>
    <p:sldId id="271" r:id="rId11"/>
    <p:sldId id="281" r:id="rId12"/>
    <p:sldId id="283" r:id="rId13"/>
    <p:sldId id="285" r:id="rId14"/>
    <p:sldId id="284" r:id="rId15"/>
    <p:sldId id="26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6" d="100"/>
          <a:sy n="76" d="100"/>
        </p:scale>
        <p:origin x="1718"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Sai Chowdary Akkina" userId="434f579e267a22b2" providerId="LiveId" clId="{97E2BD77-90ED-4D50-B1D2-14EE7F9F2ABF}"/>
    <pc:docChg chg="custSel modSld">
      <pc:chgData name="Ravi Sai Chowdary Akkina" userId="434f579e267a22b2" providerId="LiveId" clId="{97E2BD77-90ED-4D50-B1D2-14EE7F9F2ABF}" dt="2026-10-01T17:01:09.164" v="143" actId="14100"/>
      <pc:docMkLst>
        <pc:docMk/>
      </pc:docMkLst>
      <pc:sldChg chg="modSp mod">
        <pc:chgData name="Ravi Sai Chowdary Akkina" userId="434f579e267a22b2" providerId="LiveId" clId="{97E2BD77-90ED-4D50-B1D2-14EE7F9F2ABF}" dt="2026-09-30T10:38:37.606" v="13" actId="20577"/>
        <pc:sldMkLst>
          <pc:docMk/>
          <pc:sldMk cId="0" sldId="256"/>
        </pc:sldMkLst>
        <pc:spChg chg="mod">
          <ac:chgData name="Ravi Sai Chowdary Akkina" userId="434f579e267a22b2" providerId="LiveId" clId="{97E2BD77-90ED-4D50-B1D2-14EE7F9F2ABF}" dt="2026-09-30T10:38:37.606" v="13" actId="20577"/>
          <ac:spMkLst>
            <pc:docMk/>
            <pc:sldMk cId="0" sldId="256"/>
            <ac:spMk id="7" creationId="{00000000-0000-0000-0000-000000000000}"/>
          </ac:spMkLst>
        </pc:spChg>
      </pc:sldChg>
      <pc:sldChg chg="modSp mod">
        <pc:chgData name="Ravi Sai Chowdary Akkina" userId="434f579e267a22b2" providerId="LiveId" clId="{97E2BD77-90ED-4D50-B1D2-14EE7F9F2ABF}" dt="2026-10-01T16:51:18.521" v="67" actId="20577"/>
        <pc:sldMkLst>
          <pc:docMk/>
          <pc:sldMk cId="0" sldId="257"/>
        </pc:sldMkLst>
        <pc:spChg chg="mod">
          <ac:chgData name="Ravi Sai Chowdary Akkina" userId="434f579e267a22b2" providerId="LiveId" clId="{97E2BD77-90ED-4D50-B1D2-14EE7F9F2ABF}" dt="2026-10-01T16:51:18.521" v="67" actId="20577"/>
          <ac:spMkLst>
            <pc:docMk/>
            <pc:sldMk cId="0" sldId="257"/>
            <ac:spMk id="11" creationId="{00000000-0000-0000-0000-000000000000}"/>
          </ac:spMkLst>
        </pc:spChg>
      </pc:sldChg>
      <pc:sldChg chg="modSp mod">
        <pc:chgData name="Ravi Sai Chowdary Akkina" userId="434f579e267a22b2" providerId="LiveId" clId="{97E2BD77-90ED-4D50-B1D2-14EE7F9F2ABF}" dt="2026-10-01T16:51:08.187" v="45" actId="20577"/>
        <pc:sldMkLst>
          <pc:docMk/>
          <pc:sldMk cId="0" sldId="258"/>
        </pc:sldMkLst>
        <pc:spChg chg="mod">
          <ac:chgData name="Ravi Sai Chowdary Akkina" userId="434f579e267a22b2" providerId="LiveId" clId="{97E2BD77-90ED-4D50-B1D2-14EE7F9F2ABF}" dt="2026-10-01T16:51:08.187" v="45" actId="20577"/>
          <ac:spMkLst>
            <pc:docMk/>
            <pc:sldMk cId="0" sldId="258"/>
            <ac:spMk id="11" creationId="{00000000-0000-0000-0000-000000000000}"/>
          </ac:spMkLst>
        </pc:spChg>
        <pc:spChg chg="mod">
          <ac:chgData name="Ravi Sai Chowdary Akkina" userId="434f579e267a22b2" providerId="LiveId" clId="{97E2BD77-90ED-4D50-B1D2-14EE7F9F2ABF}" dt="2026-09-30T10:39:36.035" v="21" actId="114"/>
          <ac:spMkLst>
            <pc:docMk/>
            <pc:sldMk cId="0" sldId="258"/>
            <ac:spMk id="12" creationId="{00000000-0000-0000-0000-000000000000}"/>
          </ac:spMkLst>
        </pc:spChg>
      </pc:sldChg>
      <pc:sldChg chg="addSp delSp modSp mod">
        <pc:chgData name="Ravi Sai Chowdary Akkina" userId="434f579e267a22b2" providerId="LiveId" clId="{97E2BD77-90ED-4D50-B1D2-14EE7F9F2ABF}" dt="2026-10-01T16:57:43.391" v="113" actId="14100"/>
        <pc:sldMkLst>
          <pc:docMk/>
          <pc:sldMk cId="2272052410" sldId="278"/>
        </pc:sldMkLst>
        <pc:picChg chg="add mod">
          <ac:chgData name="Ravi Sai Chowdary Akkina" userId="434f579e267a22b2" providerId="LiveId" clId="{97E2BD77-90ED-4D50-B1D2-14EE7F9F2ABF}" dt="2026-10-01T16:53:39.299" v="79" actId="14100"/>
          <ac:picMkLst>
            <pc:docMk/>
            <pc:sldMk cId="2272052410" sldId="278"/>
            <ac:picMk id="3" creationId="{656F7464-B2CC-FAE5-EF24-C929D687509D}"/>
          </ac:picMkLst>
        </pc:picChg>
        <pc:picChg chg="add mod">
          <ac:chgData name="Ravi Sai Chowdary Akkina" userId="434f579e267a22b2" providerId="LiveId" clId="{97E2BD77-90ED-4D50-B1D2-14EE7F9F2ABF}" dt="2026-10-01T16:55:18.944" v="92" actId="14100"/>
          <ac:picMkLst>
            <pc:docMk/>
            <pc:sldMk cId="2272052410" sldId="278"/>
            <ac:picMk id="11" creationId="{8ECDC907-B84E-9EFB-2DF4-E9930C964AF5}"/>
          </ac:picMkLst>
        </pc:picChg>
        <pc:picChg chg="del">
          <ac:chgData name="Ravi Sai Chowdary Akkina" userId="434f579e267a22b2" providerId="LiveId" clId="{97E2BD77-90ED-4D50-B1D2-14EE7F9F2ABF}" dt="2026-10-01T16:53:11.827" v="68" actId="478"/>
          <ac:picMkLst>
            <pc:docMk/>
            <pc:sldMk cId="2272052410" sldId="278"/>
            <ac:picMk id="12" creationId="{107ED7B0-F846-91EB-F4A9-AFAB580A29E4}"/>
          </ac:picMkLst>
        </pc:picChg>
        <pc:picChg chg="del">
          <ac:chgData name="Ravi Sai Chowdary Akkina" userId="434f579e267a22b2" providerId="LiveId" clId="{97E2BD77-90ED-4D50-B1D2-14EE7F9F2ABF}" dt="2026-10-01T16:53:43.110" v="80" actId="478"/>
          <ac:picMkLst>
            <pc:docMk/>
            <pc:sldMk cId="2272052410" sldId="278"/>
            <ac:picMk id="14" creationId="{3206599B-CA75-D6F4-6AE2-FF1D296B735B}"/>
          </ac:picMkLst>
        </pc:picChg>
        <pc:picChg chg="add mod">
          <ac:chgData name="Ravi Sai Chowdary Akkina" userId="434f579e267a22b2" providerId="LiveId" clId="{97E2BD77-90ED-4D50-B1D2-14EE7F9F2ABF}" dt="2026-10-01T16:56:36.301" v="102" actId="14100"/>
          <ac:picMkLst>
            <pc:docMk/>
            <pc:sldMk cId="2272052410" sldId="278"/>
            <ac:picMk id="15" creationId="{81DB7060-6867-66CB-6B65-F09038E4FB8B}"/>
          </ac:picMkLst>
        </pc:picChg>
        <pc:picChg chg="add mod">
          <ac:chgData name="Ravi Sai Chowdary Akkina" userId="434f579e267a22b2" providerId="LiveId" clId="{97E2BD77-90ED-4D50-B1D2-14EE7F9F2ABF}" dt="2026-10-01T16:57:43.391" v="113" actId="14100"/>
          <ac:picMkLst>
            <pc:docMk/>
            <pc:sldMk cId="2272052410" sldId="278"/>
            <ac:picMk id="20" creationId="{4F2DC35C-55F8-A161-9DC6-69E412892AAC}"/>
          </ac:picMkLst>
        </pc:picChg>
        <pc:picChg chg="del">
          <ac:chgData name="Ravi Sai Chowdary Akkina" userId="434f579e267a22b2" providerId="LiveId" clId="{97E2BD77-90ED-4D50-B1D2-14EE7F9F2ABF}" dt="2026-10-01T16:55:25.613" v="93" actId="478"/>
          <ac:picMkLst>
            <pc:docMk/>
            <pc:sldMk cId="2272052410" sldId="278"/>
            <ac:picMk id="22" creationId="{3957AC56-4F7F-7819-2BE2-8B6799F45182}"/>
          </ac:picMkLst>
        </pc:picChg>
        <pc:picChg chg="del">
          <ac:chgData name="Ravi Sai Chowdary Akkina" userId="434f579e267a22b2" providerId="LiveId" clId="{97E2BD77-90ED-4D50-B1D2-14EE7F9F2ABF}" dt="2026-10-01T16:55:27.796" v="94" actId="478"/>
          <ac:picMkLst>
            <pc:docMk/>
            <pc:sldMk cId="2272052410" sldId="278"/>
            <ac:picMk id="24" creationId="{A08997F8-E855-CCDF-E77E-C6DA53CE1E2B}"/>
          </ac:picMkLst>
        </pc:picChg>
      </pc:sldChg>
      <pc:sldChg chg="addSp delSp modSp mod">
        <pc:chgData name="Ravi Sai Chowdary Akkina" userId="434f579e267a22b2" providerId="LiveId" clId="{97E2BD77-90ED-4D50-B1D2-14EE7F9F2ABF}" dt="2026-10-01T17:01:09.164" v="143" actId="14100"/>
        <pc:sldMkLst>
          <pc:docMk/>
          <pc:sldMk cId="3751606688" sldId="283"/>
        </pc:sldMkLst>
        <pc:picChg chg="del">
          <ac:chgData name="Ravi Sai Chowdary Akkina" userId="434f579e267a22b2" providerId="LiveId" clId="{97E2BD77-90ED-4D50-B1D2-14EE7F9F2ABF}" dt="2026-10-01T16:57:52.919" v="114" actId="478"/>
          <ac:picMkLst>
            <pc:docMk/>
            <pc:sldMk cId="3751606688" sldId="283"/>
            <ac:picMk id="3" creationId="{1B430032-21B5-0D36-BADA-BE9A65A4153E}"/>
          </ac:picMkLst>
        </pc:picChg>
        <pc:picChg chg="add mod">
          <ac:chgData name="Ravi Sai Chowdary Akkina" userId="434f579e267a22b2" providerId="LiveId" clId="{97E2BD77-90ED-4D50-B1D2-14EE7F9F2ABF}" dt="2026-10-01T17:00:56.391" v="138" actId="14100"/>
          <ac:picMkLst>
            <pc:docMk/>
            <pc:sldMk cId="3751606688" sldId="283"/>
            <ac:picMk id="4" creationId="{1546575B-6358-27B3-F8D2-469A0F45EFD0}"/>
          </ac:picMkLst>
        </pc:picChg>
        <pc:picChg chg="del">
          <ac:chgData name="Ravi Sai Chowdary Akkina" userId="434f579e267a22b2" providerId="LiveId" clId="{97E2BD77-90ED-4D50-B1D2-14EE7F9F2ABF}" dt="2026-10-01T16:57:58.380" v="117" actId="478"/>
          <ac:picMkLst>
            <pc:docMk/>
            <pc:sldMk cId="3751606688" sldId="283"/>
            <ac:picMk id="6" creationId="{4523DC89-A594-E4EB-C690-0AC1FE32AA70}"/>
          </ac:picMkLst>
        </pc:picChg>
        <pc:picChg chg="add mod">
          <ac:chgData name="Ravi Sai Chowdary Akkina" userId="434f579e267a22b2" providerId="LiveId" clId="{97E2BD77-90ED-4D50-B1D2-14EE7F9F2ABF}" dt="2026-10-01T17:01:09.164" v="143" actId="14100"/>
          <ac:picMkLst>
            <pc:docMk/>
            <pc:sldMk cId="3751606688" sldId="283"/>
            <ac:picMk id="7" creationId="{5C2C5270-8BE7-7B15-326F-42D938D65128}"/>
          </ac:picMkLst>
        </pc:picChg>
        <pc:picChg chg="del">
          <ac:chgData name="Ravi Sai Chowdary Akkina" userId="434f579e267a22b2" providerId="LiveId" clId="{97E2BD77-90ED-4D50-B1D2-14EE7F9F2ABF}" dt="2026-10-01T16:57:56.500" v="116" actId="478"/>
          <ac:picMkLst>
            <pc:docMk/>
            <pc:sldMk cId="3751606688" sldId="283"/>
            <ac:picMk id="8" creationId="{D34118B9-D574-F032-CDCD-2369F5C09F50}"/>
          </ac:picMkLst>
        </pc:picChg>
        <pc:picChg chg="del">
          <ac:chgData name="Ravi Sai Chowdary Akkina" userId="434f579e267a22b2" providerId="LiveId" clId="{97E2BD77-90ED-4D50-B1D2-14EE7F9F2ABF}" dt="2026-10-01T16:57:54.465" v="115" actId="478"/>
          <ac:picMkLst>
            <pc:docMk/>
            <pc:sldMk cId="3751606688" sldId="283"/>
            <ac:picMk id="10" creationId="{D67A3BAB-782A-E2B3-0ACB-FFE04749918D}"/>
          </ac:picMkLst>
        </pc:picChg>
        <pc:picChg chg="add mod">
          <ac:chgData name="Ravi Sai Chowdary Akkina" userId="434f579e267a22b2" providerId="LiveId" clId="{97E2BD77-90ED-4D50-B1D2-14EE7F9F2ABF}" dt="2026-10-01T17:00:53.070" v="137" actId="1076"/>
          <ac:picMkLst>
            <pc:docMk/>
            <pc:sldMk cId="3751606688" sldId="283"/>
            <ac:picMk id="11" creationId="{13161309-B0C9-7297-A24A-2C2EEDBFED2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01-10-2026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1527576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10/1/2026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jpe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TextBox 2"/>
          <p:cNvSpPr txBox="1"/>
          <p:nvPr/>
        </p:nvSpPr>
        <p:spPr>
          <a:xfrm>
            <a:off x="1463040" y="1051560"/>
            <a:ext cx="7315200" cy="523220"/>
          </a:xfrm>
          <a:prstGeom prst="rect">
            <a:avLst/>
          </a:prstGeom>
          <a:noFill/>
        </p:spPr>
        <p:txBody>
          <a:bodyPr wrap="square">
            <a:spAutoFit/>
          </a:bodyPr>
          <a:lstStyle/>
          <a:p>
            <a:pPr algn="ctr">
              <a:spcAft>
                <a:spcPts val="700"/>
              </a:spcAft>
              <a:defRPr sz="2500" b="1">
                <a:solidFill>
                  <a:srgbClr val="233464"/>
                </a:solidFill>
                <a:latin typeface="Aptos"/>
              </a:defRPr>
            </a:pPr>
            <a:r>
              <a:rPr sz="2800" dirty="0">
                <a:latin typeface="Times New Roman" pitchFamily="18" charset="0"/>
                <a:cs typeface="Times New Roman" pitchFamily="18" charset="0"/>
              </a:rPr>
              <a:t>Data Analysis Essentials</a:t>
            </a:r>
          </a:p>
        </p:txBody>
      </p:sp>
      <p:sp>
        <p:nvSpPr>
          <p:cNvPr id="4" name="TextBox 3"/>
          <p:cNvSpPr txBox="1"/>
          <p:nvPr/>
        </p:nvSpPr>
        <p:spPr>
          <a:xfrm>
            <a:off x="1463040" y="1508760"/>
            <a:ext cx="7315200" cy="446276"/>
          </a:xfrm>
          <a:prstGeom prst="rect">
            <a:avLst/>
          </a:prstGeom>
          <a:noFill/>
        </p:spPr>
        <p:txBody>
          <a:bodyPr wrap="square">
            <a:spAutoFit/>
          </a:bodyPr>
          <a:lstStyle/>
          <a:p>
            <a:pPr algn="ctr">
              <a:spcAft>
                <a:spcPts val="700"/>
              </a:spcAft>
              <a:defRPr sz="2300" b="1">
                <a:solidFill>
                  <a:srgbClr val="C25B30"/>
                </a:solidFill>
                <a:latin typeface="Aptos"/>
              </a:defRPr>
            </a:pPr>
            <a:r>
              <a:rPr dirty="0">
                <a:latin typeface="Times New Roman" pitchFamily="18" charset="0"/>
                <a:cs typeface="Times New Roman" pitchFamily="18" charset="0"/>
              </a:rPr>
              <a:t>Cornerstone Project</a:t>
            </a:r>
          </a:p>
        </p:txBody>
      </p:sp>
      <p:sp>
        <p:nvSpPr>
          <p:cNvPr id="5" name="TextBox 4"/>
          <p:cNvSpPr txBox="1"/>
          <p:nvPr/>
        </p:nvSpPr>
        <p:spPr>
          <a:xfrm>
            <a:off x="640080" y="2331720"/>
            <a:ext cx="8778240" cy="584775"/>
          </a:xfrm>
          <a:prstGeom prst="rect">
            <a:avLst/>
          </a:prstGeom>
          <a:noFill/>
        </p:spPr>
        <p:txBody>
          <a:bodyPr wrap="square">
            <a:spAutoFit/>
          </a:bodyPr>
          <a:lstStyle/>
          <a:p>
            <a:pPr algn="ctr">
              <a:spcAft>
                <a:spcPts val="700"/>
              </a:spcAft>
              <a:defRPr sz="3000" b="1">
                <a:solidFill>
                  <a:srgbClr val="233464"/>
                </a:solidFill>
                <a:latin typeface="Aptos"/>
              </a:defRPr>
            </a:pPr>
            <a:r>
              <a:rPr lang="en-US" sz="3200" dirty="0">
                <a:latin typeface="Times New Roman" pitchFamily="18" charset="0"/>
                <a:cs typeface="Times New Roman" pitchFamily="18" charset="0"/>
              </a:rPr>
              <a:t>Road Accident</a:t>
            </a:r>
            <a:r>
              <a:rPr sz="3200" dirty="0">
                <a:latin typeface="Times New Roman" pitchFamily="18" charset="0"/>
                <a:cs typeface="Times New Roman" pitchFamily="18" charset="0"/>
              </a:rPr>
              <a:t> Data Analysis</a:t>
            </a:r>
            <a:r>
              <a:rPr lang="en-US" sz="3200" dirty="0">
                <a:latin typeface="Times New Roman" pitchFamily="18" charset="0"/>
                <a:cs typeface="Times New Roman" pitchFamily="18" charset="0"/>
              </a:rPr>
              <a:t>(India)</a:t>
            </a:r>
            <a:endParaRPr sz="3200" dirty="0">
              <a:latin typeface="Times New Roman" pitchFamily="18" charset="0"/>
              <a:cs typeface="Times New Roman" pitchFamily="18" charset="0"/>
            </a:endParaRPr>
          </a:p>
        </p:txBody>
      </p:sp>
      <p:sp>
        <p:nvSpPr>
          <p:cNvPr id="7" name="TextBox 6"/>
          <p:cNvSpPr txBox="1"/>
          <p:nvPr/>
        </p:nvSpPr>
        <p:spPr>
          <a:xfrm>
            <a:off x="808093" y="3429000"/>
            <a:ext cx="7955279" cy="3580467"/>
          </a:xfrm>
          <a:prstGeom prst="rect">
            <a:avLst/>
          </a:prstGeom>
          <a:noFill/>
        </p:spPr>
        <p:txBody>
          <a:bodyPr wrap="square">
            <a:spAutoFit/>
          </a:bodyPr>
          <a:lstStyle/>
          <a:p>
            <a:pPr algn="ctr">
              <a:spcAft>
                <a:spcPts val="700"/>
              </a:spcAft>
              <a:defRPr sz="1400" b="0">
                <a:solidFill>
                  <a:srgbClr val="2D2D2D"/>
                </a:solidFill>
                <a:latin typeface="Aptos"/>
              </a:defRPr>
            </a:pPr>
            <a:r>
              <a:rPr lang="en-IN" sz="2400" b="1" dirty="0">
                <a:solidFill>
                  <a:srgbClr val="FF0000"/>
                </a:solidFill>
                <a:latin typeface="Times New Roman" pitchFamily="18" charset="0"/>
                <a:cs typeface="Times New Roman" pitchFamily="18" charset="0"/>
              </a:rPr>
              <a:t>Presented by</a:t>
            </a:r>
          </a:p>
          <a:p>
            <a:pPr algn="ctr">
              <a:spcAft>
                <a:spcPts val="700"/>
              </a:spcAft>
              <a:defRPr sz="1400" b="0">
                <a:solidFill>
                  <a:srgbClr val="2D2D2D"/>
                </a:solidFill>
                <a:latin typeface="Aptos"/>
              </a:defRPr>
            </a:pPr>
            <a:r>
              <a:rPr lang="en-IN" sz="2000" b="1" dirty="0">
                <a:latin typeface="Times New Roman" pitchFamily="18" charset="0"/>
                <a:cs typeface="Times New Roman" pitchFamily="18" charset="0"/>
              </a:rPr>
              <a:t>N.V . Nanda Kishore(25B11CS644)</a:t>
            </a:r>
          </a:p>
          <a:p>
            <a:pPr algn="ctr">
              <a:spcAft>
                <a:spcPts val="700"/>
              </a:spcAft>
              <a:defRPr sz="1400" b="0">
                <a:solidFill>
                  <a:srgbClr val="2D2D2D"/>
                </a:solidFill>
                <a:latin typeface="Aptos"/>
              </a:defRPr>
            </a:pPr>
            <a:r>
              <a:rPr lang="en-IN" sz="2000" dirty="0">
                <a:latin typeface="Times New Roman" pitchFamily="18" charset="0"/>
                <a:cs typeface="Times New Roman" pitchFamily="18" charset="0"/>
              </a:rPr>
              <a:t>P . </a:t>
            </a:r>
            <a:r>
              <a:rPr lang="en-IN" sz="2000" dirty="0" err="1">
                <a:latin typeface="Times New Roman" pitchFamily="18" charset="0"/>
                <a:cs typeface="Times New Roman" pitchFamily="18" charset="0"/>
              </a:rPr>
              <a:t>Lakshmanudu</a:t>
            </a:r>
            <a:r>
              <a:rPr lang="en-IN" sz="2000" dirty="0">
                <a:latin typeface="Times New Roman" pitchFamily="18" charset="0"/>
                <a:cs typeface="Times New Roman" pitchFamily="18" charset="0"/>
              </a:rPr>
              <a:t> (25B11CS774)</a:t>
            </a:r>
          </a:p>
          <a:p>
            <a:pPr algn="ctr">
              <a:spcAft>
                <a:spcPts val="700"/>
              </a:spcAft>
              <a:defRPr sz="1400" b="0">
                <a:solidFill>
                  <a:srgbClr val="2D2D2D"/>
                </a:solidFill>
                <a:latin typeface="Aptos"/>
              </a:defRPr>
            </a:pPr>
            <a:r>
              <a:rPr lang="en-IN" sz="2000" dirty="0">
                <a:latin typeface="Times New Roman" pitchFamily="18" charset="0"/>
                <a:cs typeface="Times New Roman" pitchFamily="18" charset="0"/>
              </a:rPr>
              <a:t>B . Harshini(25B11CSA80)</a:t>
            </a:r>
          </a:p>
          <a:p>
            <a:pPr algn="ctr">
              <a:spcAft>
                <a:spcPts val="700"/>
              </a:spcAft>
              <a:defRPr sz="1400" b="0">
                <a:solidFill>
                  <a:srgbClr val="2D2D2D"/>
                </a:solidFill>
                <a:latin typeface="Aptos"/>
              </a:defRPr>
            </a:pPr>
            <a:r>
              <a:rPr lang="en-IN" sz="2000" dirty="0">
                <a:latin typeface="Times New Roman" pitchFamily="18" charset="0"/>
                <a:cs typeface="Times New Roman" pitchFamily="18" charset="0"/>
              </a:rPr>
              <a:t>D . Sai Vyshnavi(25B11CS246)</a:t>
            </a:r>
          </a:p>
          <a:p>
            <a:pPr algn="ctr">
              <a:spcAft>
                <a:spcPts val="700"/>
              </a:spcAft>
              <a:defRPr sz="1400" b="0">
                <a:solidFill>
                  <a:srgbClr val="2D2D2D"/>
                </a:solidFill>
                <a:latin typeface="Aptos"/>
              </a:defRPr>
            </a:pPr>
            <a:r>
              <a:rPr lang="en-IN" sz="2000" dirty="0">
                <a:latin typeface="Times New Roman" pitchFamily="18" charset="0"/>
                <a:cs typeface="Times New Roman" pitchFamily="18" charset="0"/>
              </a:rPr>
              <a:t>Y . Ram Prasad(25B11CSA47)</a:t>
            </a:r>
          </a:p>
          <a:p>
            <a:pPr algn="ctr">
              <a:spcAft>
                <a:spcPts val="700"/>
              </a:spcAft>
              <a:defRPr sz="1400" b="0">
                <a:solidFill>
                  <a:srgbClr val="2D2D2D"/>
                </a:solidFill>
                <a:latin typeface="Aptos"/>
              </a:defRPr>
            </a:pPr>
            <a:endParaRPr lang="en-IN" sz="2000" b="1" dirty="0">
              <a:latin typeface="Times New Roman" pitchFamily="18" charset="0"/>
              <a:cs typeface="Times New Roman" pitchFamily="18" charset="0"/>
            </a:endParaRPr>
          </a:p>
          <a:p>
            <a:pPr algn="ctr">
              <a:spcAft>
                <a:spcPts val="700"/>
              </a:spcAft>
              <a:defRPr sz="1400" b="0">
                <a:solidFill>
                  <a:srgbClr val="2D2D2D"/>
                </a:solidFill>
                <a:latin typeface="Aptos"/>
              </a:defRPr>
            </a:pPr>
            <a:endParaRPr lang="en-IN" sz="2000" b="1" dirty="0">
              <a:latin typeface="Times New Roman" pitchFamily="18" charset="0"/>
              <a:cs typeface="Times New Roman" pitchFamily="18" charset="0"/>
            </a:endParaRPr>
          </a:p>
          <a:p>
            <a:pPr algn="ctr">
              <a:spcAft>
                <a:spcPts val="700"/>
              </a:spcAft>
              <a:defRPr sz="1400" b="0">
                <a:solidFill>
                  <a:srgbClr val="2D2D2D"/>
                </a:solidFill>
                <a:latin typeface="Aptos"/>
              </a:defRPr>
            </a:pPr>
            <a:r>
              <a:rPr lang="en-IN" sz="1600" b="1" dirty="0">
                <a:latin typeface="Times New Roman" pitchFamily="18" charset="0"/>
                <a:cs typeface="Times New Roman" pitchFamily="18" charset="0"/>
              </a:rPr>
              <a:t>Guide: Mr. K. Ashok Teja, Assistant Professor, CSE Dept.</a:t>
            </a:r>
            <a:endParaRPr sz="1600" b="1" dirty="0" err="1">
              <a:latin typeface="Times New Roman" pitchFamily="18" charset="0"/>
              <a:cs typeface="Times New Roman" pitchFamily="18" charset="0"/>
            </a:endParaRPr>
          </a:p>
        </p:txBody>
      </p:sp>
      <p:sp>
        <p:nvSpPr>
          <p:cNvPr id="8" name="TextBox 7"/>
          <p:cNvSpPr txBox="1"/>
          <p:nvPr/>
        </p:nvSpPr>
        <p:spPr>
          <a:xfrm>
            <a:off x="990600" y="6019800"/>
            <a:ext cx="8153400" cy="400110"/>
          </a:xfrm>
          <a:prstGeom prst="rect">
            <a:avLst/>
          </a:prstGeom>
          <a:noFill/>
        </p:spPr>
        <p:txBody>
          <a:bodyPr wrap="square">
            <a:spAutoFit/>
          </a:bodyPr>
          <a:lstStyle/>
          <a:p>
            <a:pPr algn="ctr">
              <a:spcAft>
                <a:spcPts val="700"/>
              </a:spcAft>
              <a:defRPr sz="1300" b="1">
                <a:solidFill>
                  <a:srgbClr val="233464"/>
                </a:solidFill>
                <a:latin typeface="Aptos"/>
              </a:defRPr>
            </a:pPr>
            <a:r>
              <a:rPr sz="2000" dirty="0">
                <a:latin typeface="Times New Roman" pitchFamily="18" charset="0"/>
                <a:cs typeface="Times New Roman" pitchFamily="18" charset="0"/>
              </a:rPr>
              <a:t>Department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p:cNvSpPr txBox="1"/>
          <p:nvPr/>
        </p:nvSpPr>
        <p:spPr>
          <a:xfrm>
            <a:off x="2545080" y="269414"/>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Contents</a:t>
            </a:r>
            <a:endParaRPr dirty="0">
              <a:solidFill>
                <a:schemeClr val="bg1"/>
              </a:solidFill>
              <a:latin typeface="Times New Roman" pitchFamily="18" charset="0"/>
              <a:cs typeface="Times New Roman" pitchFamily="18" charset="0"/>
            </a:endParaRPr>
          </a:p>
        </p:txBody>
      </p:sp>
      <p:sp>
        <p:nvSpPr>
          <p:cNvPr id="11" name="TextBox 10"/>
          <p:cNvSpPr txBox="1"/>
          <p:nvPr/>
        </p:nvSpPr>
        <p:spPr>
          <a:xfrm>
            <a:off x="1219200" y="1676400"/>
            <a:ext cx="7132320" cy="5052665"/>
          </a:xfrm>
          <a:prstGeom prst="rect">
            <a:avLst/>
          </a:prstGeom>
          <a:noFill/>
        </p:spPr>
        <p:txBody>
          <a:bodyPr wrap="square">
            <a:spAutoFit/>
          </a:bodyPr>
          <a:lstStyle/>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Problem </a:t>
            </a:r>
            <a:r>
              <a:rPr lang="en-US" sz="2400" dirty="0">
                <a:latin typeface="Times New Roman" panose="02020603050405020304" pitchFamily="18" charset="0"/>
                <a:cs typeface="Times New Roman" panose="02020603050405020304" pitchFamily="18" charset="0"/>
              </a:rPr>
              <a:t>Statement</a:t>
            </a:r>
            <a:endParaRPr sz="2400" dirty="0">
              <a:latin typeface="Times New Roman" panose="02020603050405020304" pitchFamily="18" charset="0"/>
              <a:cs typeface="Times New Roman" panose="02020603050405020304" pitchFamily="18" charset="0"/>
            </a:endParaRP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Introduction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Current Approach &amp; Limitations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Proposed Approach</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Dataset Description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Code Snippets</a:t>
            </a:r>
            <a:endParaRPr sz="2400" dirty="0">
              <a:latin typeface="Times New Roman" panose="02020603050405020304" pitchFamily="18" charset="0"/>
              <a:cs typeface="Times New Roman" panose="02020603050405020304" pitchFamily="18" charset="0"/>
            </a:endParaRP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Methodology</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Data Visualization</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Key Insights &amp; Analysis</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Implementation Workflow</a:t>
            </a:r>
          </a:p>
          <a:p>
            <a:pPr algn="l">
              <a:spcAft>
                <a:spcPts val="700"/>
              </a:spcAft>
              <a:defRPr sz="2000" b="0">
                <a:solidFill>
                  <a:srgbClr val="2D2D2D"/>
                </a:solidFill>
                <a:latin typeface="Aptos"/>
              </a:defRPr>
            </a:pPr>
            <a:r>
              <a:rPr sz="2400" dirty="0">
                <a:latin typeface="Times New Roman" panose="02020603050405020304" pitchFamily="18" charset="0"/>
                <a:cs typeface="Times New Roman" panose="02020603050405020304" pitchFamily="18" charset="0"/>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1" name="TextBox 10"/>
          <p:cNvSpPr txBox="1"/>
          <p:nvPr/>
        </p:nvSpPr>
        <p:spPr>
          <a:xfrm>
            <a:off x="2667000" y="304800"/>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PROBLEM </a:t>
            </a:r>
            <a:r>
              <a:rPr lang="en-US" dirty="0">
                <a:solidFill>
                  <a:schemeClr val="bg1"/>
                </a:solidFill>
                <a:latin typeface="Times New Roman" pitchFamily="18" charset="0"/>
                <a:cs typeface="Times New Roman" pitchFamily="18" charset="0"/>
              </a:rPr>
              <a:t>STATEMENT</a:t>
            </a:r>
            <a:endParaRPr dirty="0">
              <a:solidFill>
                <a:schemeClr val="bg1"/>
              </a:solidFill>
              <a:latin typeface="Times New Roman" pitchFamily="18" charset="0"/>
              <a:cs typeface="Times New Roman" pitchFamily="18" charset="0"/>
            </a:endParaRPr>
          </a:p>
        </p:txBody>
      </p:sp>
      <p:sp>
        <p:nvSpPr>
          <p:cNvPr id="12" name="TextBox 11"/>
          <p:cNvSpPr txBox="1"/>
          <p:nvPr/>
        </p:nvSpPr>
        <p:spPr>
          <a:xfrm>
            <a:off x="609600" y="1524000"/>
            <a:ext cx="8686800" cy="3539430"/>
          </a:xfrm>
          <a:prstGeom prst="rect">
            <a:avLst/>
          </a:prstGeom>
          <a:noFill/>
        </p:spPr>
        <p:txBody>
          <a:bodyPr wrap="square">
            <a:spAutoFit/>
          </a:bodyPr>
          <a:lstStyle/>
          <a:p>
            <a:pPr lvl="1"/>
            <a:r>
              <a:rPr lang="en-IN" sz="2800" dirty="0">
                <a:latin typeface="Times New Roman" panose="02020603050405020304" pitchFamily="18" charset="0"/>
                <a:cs typeface="Times New Roman" panose="02020603050405020304" pitchFamily="18" charset="0"/>
              </a:rPr>
              <a:t>Road accidents are a major public safety concern, and accident records can be difficult to understand when stored as raw data. </a:t>
            </a:r>
            <a:r>
              <a:rPr lang="en-IN" sz="2800" dirty="0">
                <a:solidFill>
                  <a:schemeClr val="tx1"/>
                </a:solidFill>
                <a:latin typeface="Times New Roman" panose="02020603050405020304" pitchFamily="18" charset="0"/>
                <a:cs typeface="Times New Roman" panose="02020603050405020304" pitchFamily="18" charset="0"/>
              </a:rPr>
              <a:t> </a:t>
            </a:r>
            <a:r>
              <a:rPr lang="en-IN" sz="2800" dirty="0" err="1">
                <a:solidFill>
                  <a:schemeClr val="tx1"/>
                </a:solidFill>
                <a:latin typeface="Times New Roman" panose="02020603050405020304" pitchFamily="18" charset="0"/>
                <a:cs typeface="Times New Roman" panose="02020603050405020304" pitchFamily="18" charset="0"/>
              </a:rPr>
              <a:t>Analyzing</a:t>
            </a:r>
            <a:r>
              <a:rPr lang="en-IN" sz="2800" dirty="0">
                <a:solidFill>
                  <a:schemeClr val="tx1"/>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accident information across different years and accident categories requires systematic data analysis. This project applies data analysis techniques to study road accident records from 2021 to 2024, identify important patterns, and present the findings through clear visualizations.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468880" y="21633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Introduction</a:t>
            </a:r>
          </a:p>
        </p:txBody>
      </p:sp>
      <p:sp>
        <p:nvSpPr>
          <p:cNvPr id="19" name="TextBox 18"/>
          <p:cNvSpPr txBox="1"/>
          <p:nvPr/>
        </p:nvSpPr>
        <p:spPr>
          <a:xfrm>
            <a:off x="685800" y="1417320"/>
            <a:ext cx="8778240" cy="4401205"/>
          </a:xfrm>
          <a:prstGeom prst="rect">
            <a:avLst/>
          </a:prstGeom>
          <a:noFill/>
        </p:spPr>
        <p:txBody>
          <a:bodyPr wrap="square">
            <a:spAutoFit/>
          </a:bodyPr>
          <a:lstStyle/>
          <a:p>
            <a:pPr algn="l">
              <a:spcAft>
                <a:spcPts val="700"/>
              </a:spcAft>
              <a:defRPr sz="1900" b="0">
                <a:solidFill>
                  <a:srgbClr val="2D2D2D"/>
                </a:solidFill>
                <a:latin typeface="Aptos"/>
              </a:defRPr>
            </a:pPr>
            <a:r>
              <a:rPr lang="en-IN" sz="2800" dirty="0">
                <a:latin typeface="Times New Roman" panose="02020603050405020304" pitchFamily="18" charset="0"/>
                <a:cs typeface="Times New Roman" panose="02020603050405020304" pitchFamily="18" charset="0"/>
              </a:rPr>
              <a:t>• Road accidents are a major public safety concern in India.</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Accident records contain useful information about accident conditions and outcomes.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Accident patterns can vary across different years and categories.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Python helps clean, organize, and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accident data.</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Pandas, NumPy, Matplotlib, and Seaborn are used for analysis and visualization.</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This project </a:t>
            </a:r>
            <a:r>
              <a:rPr lang="en-IN" sz="2800" dirty="0" err="1">
                <a:latin typeface="Times New Roman" panose="02020603050405020304" pitchFamily="18" charset="0"/>
                <a:cs typeface="Times New Roman" panose="02020603050405020304" pitchFamily="18" charset="0"/>
              </a:rPr>
              <a:t>analyzes</a:t>
            </a:r>
            <a:r>
              <a:rPr lang="en-IN" sz="2800" dirty="0">
                <a:latin typeface="Times New Roman" panose="02020603050405020304" pitchFamily="18" charset="0"/>
                <a:cs typeface="Times New Roman" panose="02020603050405020304" pitchFamily="18" charset="0"/>
              </a:rPr>
              <a:t> road accident records from 2021 to 2024 to identify patterns and trends.</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667000" y="304800"/>
            <a:ext cx="518160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Current / Manual Approach</a:t>
            </a:r>
          </a:p>
        </p:txBody>
      </p:sp>
      <p:sp>
        <p:nvSpPr>
          <p:cNvPr id="19" name="TextBox 18"/>
          <p:cNvSpPr txBox="1"/>
          <p:nvPr/>
        </p:nvSpPr>
        <p:spPr>
          <a:xfrm>
            <a:off x="685800" y="1417320"/>
            <a:ext cx="8778240" cy="2677656"/>
          </a:xfrm>
          <a:prstGeom prst="rect">
            <a:avLst/>
          </a:prstGeom>
          <a:noFill/>
        </p:spPr>
        <p:txBody>
          <a:bodyPr wrap="square">
            <a:spAutoFit/>
          </a:bodyPr>
          <a:lstStyle/>
          <a:p>
            <a:pPr algn="l">
              <a:spcAft>
                <a:spcPts val="700"/>
              </a:spcAft>
              <a:defRPr sz="1900" b="0">
                <a:solidFill>
                  <a:srgbClr val="2D2D2D"/>
                </a:solidFill>
                <a:latin typeface="Aptos"/>
              </a:defRPr>
            </a:pPr>
            <a:r>
              <a:rPr lang="en-IN" sz="2800" dirty="0">
                <a:latin typeface="Times New Roman" panose="02020603050405020304" pitchFamily="18" charset="0"/>
                <a:cs typeface="Times New Roman" panose="02020603050405020304" pitchFamily="18" charset="0"/>
              </a:rPr>
              <a:t>• Accident data is stored in raw CSV or tabular records.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Records are reviewed and compared manually.</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Identifying year-wise patterns requires manual effort.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Comparing accident categories is difficult from raw data.</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Accident relationships are not easily visible.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Raw tables provide limited visual understanding.</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5B758792-840A-895D-A2CD-A09955CC1720}"/>
              </a:ext>
            </a:extLst>
          </p:cNvPr>
          <p:cNvGrpSpPr/>
          <p:nvPr/>
        </p:nvGrpSpPr>
        <p:grpSpPr>
          <a:xfrm>
            <a:off x="2743200" y="0"/>
            <a:ext cx="5103904" cy="1198311"/>
            <a:chOff x="2648188" y="47148"/>
            <a:chExt cx="5103904" cy="1198311"/>
          </a:xfrm>
        </p:grpSpPr>
        <p:pic>
          <p:nvPicPr>
            <p:cNvPr id="3" name="object 4">
              <a:extLst>
                <a:ext uri="{FF2B5EF4-FFF2-40B4-BE49-F238E27FC236}">
                  <a16:creationId xmlns:a16="http://schemas.microsoft.com/office/drawing/2014/main" id="{E290B6E4-4C6A-D92F-FFFC-B388B784351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7F4EE37-279F-308C-F87F-6E638DA19370}"/>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D23BED-35EB-2EF2-62D6-17D1E3CB000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F06FBF5-D468-2472-2E09-3659EB0BF5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Limitations of Manual Analysis</a:t>
            </a:r>
          </a:p>
        </p:txBody>
      </p:sp>
      <p:sp>
        <p:nvSpPr>
          <p:cNvPr id="19" name="TextBox 18"/>
          <p:cNvSpPr txBox="1"/>
          <p:nvPr/>
        </p:nvSpPr>
        <p:spPr>
          <a:xfrm>
            <a:off x="685800" y="1325880"/>
            <a:ext cx="8778240" cy="3629199"/>
          </a:xfrm>
          <a:prstGeom prst="rect">
            <a:avLst/>
          </a:prstGeom>
          <a:noFill/>
        </p:spPr>
        <p:txBody>
          <a:bodyPr wrap="square">
            <a:spAutoFit/>
          </a:bodyPr>
          <a:lstStyle/>
          <a:p>
            <a:pPr algn="l">
              <a:spcAft>
                <a:spcPts val="700"/>
              </a:spcAft>
              <a:defRPr sz="1800" b="0">
                <a:solidFill>
                  <a:srgbClr val="2D2D2D"/>
                </a:solidFill>
                <a:latin typeface="Aptos"/>
              </a:defRPr>
            </a:pPr>
            <a:r>
              <a:rPr lang="en-IN" sz="2800" dirty="0">
                <a:latin typeface="Times New Roman" panose="02020603050405020304" pitchFamily="18" charset="0"/>
                <a:cs typeface="Times New Roman" panose="02020603050405020304" pitchFamily="18" charset="0"/>
              </a:rPr>
              <a:t>• Manual analysis is time-consuming.</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Large datasets are difficult to process manually.</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Comparing accident patterns is difficult.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Relationships between accident factors are not easily identified.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Visualizing patterns manually is difficult.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Manual processing can lead to errors.</a:t>
            </a:r>
          </a:p>
          <a:p>
            <a:pPr algn="l">
              <a:spcAft>
                <a:spcPts val="700"/>
              </a:spcAft>
              <a:defRPr sz="1800" b="0">
                <a:solidFill>
                  <a:srgbClr val="2D2D2D"/>
                </a:solidFill>
                <a:latin typeface="Aptos"/>
              </a:defRPr>
            </a:pP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grpSp>
        <p:nvGrpSpPr>
          <p:cNvPr id="3" name="object 3">
            <a:extLst>
              <a:ext uri="{FF2B5EF4-FFF2-40B4-BE49-F238E27FC236}">
                <a16:creationId xmlns:a16="http://schemas.microsoft.com/office/drawing/2014/main" id="{39A132B5-7282-BB0D-41D0-2D605FAF9D2A}"/>
              </a:ext>
            </a:extLst>
          </p:cNvPr>
          <p:cNvGrpSpPr/>
          <p:nvPr/>
        </p:nvGrpSpPr>
        <p:grpSpPr>
          <a:xfrm>
            <a:off x="2743200" y="228600"/>
            <a:ext cx="4997767" cy="1092279"/>
            <a:chOff x="2703195" y="86439"/>
            <a:chExt cx="4997767" cy="1092279"/>
          </a:xfrm>
        </p:grpSpPr>
        <p:pic>
          <p:nvPicPr>
            <p:cNvPr id="5" name="object 5">
              <a:extLst>
                <a:ext uri="{FF2B5EF4-FFF2-40B4-BE49-F238E27FC236}">
                  <a16:creationId xmlns:a16="http://schemas.microsoft.com/office/drawing/2014/main" id="{19E5F2C6-879E-09C8-70D8-F12E4105BA45}"/>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12F6F0F7-7EC3-7119-588E-9CA45688A5E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FF94120-5DAA-BA86-6F61-CE59BF796C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43200" y="374808"/>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Proposed Approach</a:t>
            </a:r>
          </a:p>
        </p:txBody>
      </p:sp>
      <p:sp>
        <p:nvSpPr>
          <p:cNvPr id="19" name="TextBox 18"/>
          <p:cNvSpPr txBox="1"/>
          <p:nvPr/>
        </p:nvSpPr>
        <p:spPr>
          <a:xfrm>
            <a:off x="762000" y="1467086"/>
            <a:ext cx="8519160" cy="3970318"/>
          </a:xfrm>
          <a:prstGeom prst="rect">
            <a:avLst/>
          </a:prstGeom>
          <a:noFill/>
        </p:spPr>
        <p:txBody>
          <a:bodyPr wrap="square">
            <a:spAutoFit/>
          </a:bodyPr>
          <a:lstStyle/>
          <a:p>
            <a:pPr algn="l">
              <a:spcAft>
                <a:spcPts val="700"/>
              </a:spcAft>
              <a:defRPr sz="1900" b="0">
                <a:solidFill>
                  <a:srgbClr val="2D2D2D"/>
                </a:solidFill>
                <a:latin typeface="Aptos"/>
              </a:defRPr>
            </a:pPr>
            <a:r>
              <a:rPr lang="en-IN" sz="2800" dirty="0">
                <a:latin typeface="Times New Roman" panose="02020603050405020304" pitchFamily="18" charset="0"/>
                <a:cs typeface="Times New Roman" panose="02020603050405020304" pitchFamily="18" charset="0"/>
              </a:rPr>
              <a:t>• Dataset loading and initial exploration</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Data filtering and extraction of relevant accident records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Data validation and cleaning</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Data aggregation and representation</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Descriptive and statistical analysis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Category-wise and trend analysis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Data visualization using charts and heatmaps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Interpretation of results and identification of key accident patterns</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256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493C539F-A86A-512C-CDC1-7D279B60EB1C}"/>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EF4257B-2B43-17B3-FF4F-1187B669162A}"/>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6F1369C-4970-FF55-E67B-BCF08160A62A}"/>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69E22F-BC21-03E7-F9F3-42AA69CA9E9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70ED999-51AF-0BD8-F3EE-37C965CA5C3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8" name="TextBox 17"/>
          <p:cNvSpPr txBox="1"/>
          <p:nvPr/>
        </p:nvSpPr>
        <p:spPr>
          <a:xfrm>
            <a:off x="2722007" y="286489"/>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DATASET DESCRIPTION</a:t>
            </a:r>
          </a:p>
        </p:txBody>
      </p:sp>
      <p:sp>
        <p:nvSpPr>
          <p:cNvPr id="19" name="TextBox 18"/>
          <p:cNvSpPr txBox="1"/>
          <p:nvPr/>
        </p:nvSpPr>
        <p:spPr>
          <a:xfrm>
            <a:off x="838200" y="765808"/>
            <a:ext cx="7985760" cy="954107"/>
          </a:xfrm>
          <a:prstGeom prst="rect">
            <a:avLst/>
          </a:prstGeom>
          <a:noFill/>
        </p:spPr>
        <p:txBody>
          <a:bodyPr wrap="square">
            <a:spAutoFit/>
          </a:bodyPr>
          <a:lstStyle/>
          <a:p>
            <a:pPr algn="ctr">
              <a:spcAft>
                <a:spcPts val="700"/>
              </a:spcAft>
              <a:defRPr sz="1900" b="1">
                <a:solidFill>
                  <a:srgbClr val="233464"/>
                </a:solidFill>
                <a:latin typeface="Aptos"/>
              </a:defRPr>
            </a:pPr>
            <a:r>
              <a:rPr lang="en-IN" sz="2800" b="1" dirty="0"/>
              <a:t>Road accident dataset used for analysis — covering recorded accident data from 2021 to 2024.</a:t>
            </a:r>
            <a:endParaRPr lang="en-US" sz="2800" dirty="0">
              <a:latin typeface="Times New Roman" panose="02020603050405020304" pitchFamily="18" charset="0"/>
              <a:cs typeface="Times New Roman" pitchFamily="18" charset="0"/>
            </a:endParaRPr>
          </a:p>
        </p:txBody>
      </p:sp>
      <p:pic>
        <p:nvPicPr>
          <p:cNvPr id="3" name="Picture 2">
            <a:extLst>
              <a:ext uri="{FF2B5EF4-FFF2-40B4-BE49-F238E27FC236}">
                <a16:creationId xmlns:a16="http://schemas.microsoft.com/office/drawing/2014/main" id="{BD4AD836-F775-DC43-26E7-18E937F7C6E7}"/>
              </a:ext>
            </a:extLst>
          </p:cNvPr>
          <p:cNvPicPr>
            <a:picLocks noChangeAspect="1"/>
          </p:cNvPicPr>
          <p:nvPr/>
        </p:nvPicPr>
        <p:blipFill>
          <a:blip r:embed="rId6"/>
          <a:stretch>
            <a:fillRect/>
          </a:stretch>
        </p:blipFill>
        <p:spPr>
          <a:xfrm>
            <a:off x="412075" y="2208721"/>
            <a:ext cx="9234250" cy="4797871"/>
          </a:xfrm>
          <a:prstGeom prst="rect">
            <a:avLst/>
          </a:prstGeom>
        </p:spPr>
      </p:pic>
    </p:spTree>
    <p:extLst>
      <p:ext uri="{BB962C8B-B14F-4D97-AF65-F5344CB8AC3E}">
        <p14:creationId xmlns:p14="http://schemas.microsoft.com/office/powerpoint/2010/main" val="3510378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819400" y="52623"/>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8" name="TextBox 17"/>
          <p:cNvSpPr txBox="1"/>
          <p:nvPr/>
        </p:nvSpPr>
        <p:spPr>
          <a:xfrm>
            <a:off x="2743200" y="256032"/>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US" dirty="0">
                <a:solidFill>
                  <a:schemeClr val="bg1"/>
                </a:solidFill>
                <a:latin typeface="Times New Roman" pitchFamily="18" charset="0"/>
                <a:cs typeface="Times New Roman" pitchFamily="18" charset="0"/>
              </a:rPr>
              <a:t>CODE SNIPPETS</a:t>
            </a:r>
            <a:endParaRPr dirty="0">
              <a:solidFill>
                <a:schemeClr val="bg1"/>
              </a:solidFill>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8BC43E4C-267A-436D-4E47-5C4F12D680BE}"/>
              </a:ext>
            </a:extLst>
          </p:cNvPr>
          <p:cNvSpPr txBox="1"/>
          <p:nvPr/>
        </p:nvSpPr>
        <p:spPr>
          <a:xfrm>
            <a:off x="990600" y="1341303"/>
            <a:ext cx="3581400" cy="461665"/>
          </a:xfrm>
          <a:prstGeom prst="rect">
            <a:avLst/>
          </a:prstGeom>
          <a:noFill/>
        </p:spPr>
        <p:txBody>
          <a:bodyPr wrap="square">
            <a:spAutoFit/>
          </a:bodyPr>
          <a:lstStyle/>
          <a:p>
            <a:pPr algn="l">
              <a:spcAft>
                <a:spcPts val="700"/>
              </a:spcAft>
              <a:defRPr sz="2000" b="1">
                <a:solidFill>
                  <a:srgbClr val="233464"/>
                </a:solidFill>
                <a:latin typeface="Aptos"/>
              </a:defRPr>
            </a:pPr>
            <a:r>
              <a:rPr lang="en-US" sz="2400" dirty="0">
                <a:latin typeface="Times New Roman" pitchFamily="18" charset="0"/>
                <a:cs typeface="Times New Roman" pitchFamily="18" charset="0"/>
              </a:rPr>
              <a:t>Data Loading</a:t>
            </a:r>
            <a:endParaRPr sz="2400"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43EA0CE6-F24A-711D-657F-4F1A6A44D0F9}"/>
              </a:ext>
            </a:extLst>
          </p:cNvPr>
          <p:cNvSpPr txBox="1"/>
          <p:nvPr/>
        </p:nvSpPr>
        <p:spPr>
          <a:xfrm>
            <a:off x="5867400" y="1234441"/>
            <a:ext cx="2667000" cy="461665"/>
          </a:xfrm>
          <a:prstGeom prst="rect">
            <a:avLst/>
          </a:prstGeom>
          <a:noFill/>
        </p:spPr>
        <p:txBody>
          <a:bodyPr wrap="square">
            <a:spAutoFit/>
          </a:bodyPr>
          <a:lstStyle/>
          <a:p>
            <a:pPr algn="l">
              <a:spcAft>
                <a:spcPts val="700"/>
              </a:spcAft>
              <a:defRPr sz="2000" b="1">
                <a:solidFill>
                  <a:srgbClr val="233464"/>
                </a:solidFill>
                <a:latin typeface="Aptos"/>
              </a:defRPr>
            </a:pPr>
            <a:r>
              <a:rPr lang="en-US" sz="2400" dirty="0">
                <a:latin typeface="Times New Roman" pitchFamily="18" charset="0"/>
                <a:cs typeface="Times New Roman" pitchFamily="18" charset="0"/>
              </a:rPr>
              <a:t>Data Cleaning</a:t>
            </a:r>
            <a:endParaRPr sz="2400" dirty="0">
              <a:latin typeface="Times New Roman" pitchFamily="18" charset="0"/>
              <a:cs typeface="Times New Roman" pitchFamily="18" charset="0"/>
            </a:endParaRPr>
          </a:p>
        </p:txBody>
      </p:sp>
      <p:sp>
        <p:nvSpPr>
          <p:cNvPr id="26" name="TextBox 25">
            <a:extLst>
              <a:ext uri="{FF2B5EF4-FFF2-40B4-BE49-F238E27FC236}">
                <a16:creationId xmlns:a16="http://schemas.microsoft.com/office/drawing/2014/main" id="{6A996C81-0A35-BD9F-A719-BEC0460EF80A}"/>
              </a:ext>
            </a:extLst>
          </p:cNvPr>
          <p:cNvSpPr txBox="1"/>
          <p:nvPr/>
        </p:nvSpPr>
        <p:spPr>
          <a:xfrm flipH="1">
            <a:off x="914399" y="4357938"/>
            <a:ext cx="2085736" cy="461665"/>
          </a:xfrm>
          <a:prstGeom prst="rect">
            <a:avLst/>
          </a:prstGeom>
          <a:noFill/>
        </p:spPr>
        <p:txBody>
          <a:bodyPr wrap="square">
            <a:spAutoFit/>
          </a:bodyPr>
          <a:lstStyle/>
          <a:p>
            <a:pPr algn="l">
              <a:spcAft>
                <a:spcPts val="700"/>
              </a:spcAft>
              <a:defRPr sz="2000" b="1">
                <a:solidFill>
                  <a:srgbClr val="233464"/>
                </a:solidFill>
                <a:latin typeface="Aptos"/>
              </a:defRPr>
            </a:pPr>
            <a:r>
              <a:rPr lang="en-US" sz="2400" dirty="0">
                <a:latin typeface="Times New Roman" pitchFamily="18" charset="0"/>
                <a:cs typeface="Times New Roman" pitchFamily="18" charset="0"/>
              </a:rPr>
              <a:t>Data Analysis</a:t>
            </a:r>
            <a:endParaRPr sz="2400" dirty="0">
              <a:latin typeface="Times New Roman" pitchFamily="18" charset="0"/>
              <a:cs typeface="Times New Roman" pitchFamily="18" charset="0"/>
            </a:endParaRPr>
          </a:p>
        </p:txBody>
      </p:sp>
      <p:sp>
        <p:nvSpPr>
          <p:cNvPr id="28" name="TextBox 27">
            <a:extLst>
              <a:ext uri="{FF2B5EF4-FFF2-40B4-BE49-F238E27FC236}">
                <a16:creationId xmlns:a16="http://schemas.microsoft.com/office/drawing/2014/main" id="{310F2565-3EC7-A498-4E95-BEB61E8FFE07}"/>
              </a:ext>
            </a:extLst>
          </p:cNvPr>
          <p:cNvSpPr txBox="1"/>
          <p:nvPr/>
        </p:nvSpPr>
        <p:spPr>
          <a:xfrm>
            <a:off x="5638800" y="4357938"/>
            <a:ext cx="3200400" cy="461665"/>
          </a:xfrm>
          <a:prstGeom prst="rect">
            <a:avLst/>
          </a:prstGeom>
          <a:noFill/>
        </p:spPr>
        <p:txBody>
          <a:bodyPr wrap="square">
            <a:spAutoFit/>
          </a:bodyPr>
          <a:lstStyle/>
          <a:p>
            <a:pPr algn="l">
              <a:spcAft>
                <a:spcPts val="700"/>
              </a:spcAft>
              <a:defRPr sz="2000" b="1">
                <a:solidFill>
                  <a:srgbClr val="233464"/>
                </a:solidFill>
                <a:latin typeface="Aptos"/>
              </a:defRPr>
            </a:pPr>
            <a:r>
              <a:rPr lang="en-US" sz="2400" dirty="0">
                <a:latin typeface="Times New Roman" pitchFamily="18" charset="0"/>
                <a:cs typeface="Times New Roman" pitchFamily="18" charset="0"/>
              </a:rPr>
              <a:t>Data Visualization</a:t>
            </a:r>
            <a:endParaRPr sz="24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656F7464-B2CC-FAE5-EF24-C929D687509D}"/>
              </a:ext>
            </a:extLst>
          </p:cNvPr>
          <p:cNvPicPr>
            <a:picLocks noChangeAspect="1"/>
          </p:cNvPicPr>
          <p:nvPr/>
        </p:nvPicPr>
        <p:blipFill>
          <a:blip r:embed="rId6"/>
          <a:stretch>
            <a:fillRect/>
          </a:stretch>
        </p:blipFill>
        <p:spPr>
          <a:xfrm>
            <a:off x="171453" y="2005398"/>
            <a:ext cx="4552947" cy="1992422"/>
          </a:xfrm>
          <a:prstGeom prst="rect">
            <a:avLst/>
          </a:prstGeom>
        </p:spPr>
      </p:pic>
      <p:pic>
        <p:nvPicPr>
          <p:cNvPr id="11" name="Picture 10">
            <a:extLst>
              <a:ext uri="{FF2B5EF4-FFF2-40B4-BE49-F238E27FC236}">
                <a16:creationId xmlns:a16="http://schemas.microsoft.com/office/drawing/2014/main" id="{8ECDC907-B84E-9EFB-2DF4-E9930C964AF5}"/>
              </a:ext>
            </a:extLst>
          </p:cNvPr>
          <p:cNvPicPr>
            <a:picLocks noChangeAspect="1"/>
          </p:cNvPicPr>
          <p:nvPr/>
        </p:nvPicPr>
        <p:blipFill>
          <a:blip r:embed="rId7"/>
          <a:stretch>
            <a:fillRect/>
          </a:stretch>
        </p:blipFill>
        <p:spPr>
          <a:xfrm>
            <a:off x="5334002" y="2005398"/>
            <a:ext cx="4343398" cy="1992422"/>
          </a:xfrm>
          <a:prstGeom prst="rect">
            <a:avLst/>
          </a:prstGeom>
        </p:spPr>
      </p:pic>
      <p:pic>
        <p:nvPicPr>
          <p:cNvPr id="15" name="Picture 14">
            <a:extLst>
              <a:ext uri="{FF2B5EF4-FFF2-40B4-BE49-F238E27FC236}">
                <a16:creationId xmlns:a16="http://schemas.microsoft.com/office/drawing/2014/main" id="{81DB7060-6867-66CB-6B65-F09038E4FB8B}"/>
              </a:ext>
            </a:extLst>
          </p:cNvPr>
          <p:cNvPicPr>
            <a:picLocks noChangeAspect="1"/>
          </p:cNvPicPr>
          <p:nvPr/>
        </p:nvPicPr>
        <p:blipFill>
          <a:blip r:embed="rId8"/>
          <a:stretch>
            <a:fillRect/>
          </a:stretch>
        </p:blipFill>
        <p:spPr>
          <a:xfrm>
            <a:off x="171453" y="5170378"/>
            <a:ext cx="4552947" cy="1992422"/>
          </a:xfrm>
          <a:prstGeom prst="rect">
            <a:avLst/>
          </a:prstGeom>
        </p:spPr>
      </p:pic>
      <p:pic>
        <p:nvPicPr>
          <p:cNvPr id="20" name="Picture 19">
            <a:extLst>
              <a:ext uri="{FF2B5EF4-FFF2-40B4-BE49-F238E27FC236}">
                <a16:creationId xmlns:a16="http://schemas.microsoft.com/office/drawing/2014/main" id="{4F2DC35C-55F8-A161-9DC6-69E412892AAC}"/>
              </a:ext>
            </a:extLst>
          </p:cNvPr>
          <p:cNvPicPr>
            <a:picLocks noChangeAspect="1"/>
          </p:cNvPicPr>
          <p:nvPr/>
        </p:nvPicPr>
        <p:blipFill>
          <a:blip r:embed="rId9"/>
          <a:stretch>
            <a:fillRect/>
          </a:stretch>
        </p:blipFill>
        <p:spPr>
          <a:xfrm>
            <a:off x="5334002" y="5170378"/>
            <a:ext cx="4343398" cy="1992422"/>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sp>
        <p:nvSpPr>
          <p:cNvPr id="20" name="TextBox 19"/>
          <p:cNvSpPr txBox="1"/>
          <p:nvPr/>
        </p:nvSpPr>
        <p:spPr>
          <a:xfrm>
            <a:off x="42253" y="1115220"/>
            <a:ext cx="9770832" cy="830997"/>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Module 1 – Data Loading &amp; Reading </a:t>
            </a:r>
          </a:p>
          <a:p>
            <a:pPr algn="ctr"/>
            <a:r>
              <a:rPr lang="en-IN" sz="2400" dirty="0">
                <a:latin typeface="Times New Roman" panose="02020603050405020304" pitchFamily="18" charset="0"/>
                <a:cs typeface="Times New Roman" panose="02020603050405020304" pitchFamily="18" charset="0"/>
              </a:rPr>
              <a:t>Load the road accident dataset using Python and Pandas.</a:t>
            </a:r>
            <a:endParaRPr lang="en-US" sz="2400" dirty="0">
              <a:latin typeface="Times New Roman" panose="02020603050405020304" pitchFamily="18" charset="0"/>
              <a:cs typeface="Times New Roman" pitchFamily="18" charset="0"/>
            </a:endParaRPr>
          </a:p>
        </p:txBody>
      </p:sp>
      <p:sp>
        <p:nvSpPr>
          <p:cNvPr id="4" name="Arrow: Down 3">
            <a:extLst>
              <a:ext uri="{FF2B5EF4-FFF2-40B4-BE49-F238E27FC236}">
                <a16:creationId xmlns:a16="http://schemas.microsoft.com/office/drawing/2014/main" id="{52502A97-D245-72B2-C4CE-36C3CF74332D}"/>
              </a:ext>
            </a:extLst>
          </p:cNvPr>
          <p:cNvSpPr/>
          <p:nvPr/>
        </p:nvSpPr>
        <p:spPr>
          <a:xfrm>
            <a:off x="4796282" y="2373939"/>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3" name="TextBox 12">
            <a:extLst>
              <a:ext uri="{FF2B5EF4-FFF2-40B4-BE49-F238E27FC236}">
                <a16:creationId xmlns:a16="http://schemas.microsoft.com/office/drawing/2014/main" id="{0E34B842-9CD3-AA46-6CA7-F730C9D1D96E}"/>
              </a:ext>
            </a:extLst>
          </p:cNvPr>
          <p:cNvSpPr txBox="1"/>
          <p:nvPr/>
        </p:nvSpPr>
        <p:spPr>
          <a:xfrm>
            <a:off x="1143245" y="2609096"/>
            <a:ext cx="7495962" cy="830997"/>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2 – Data Acquisition &amp; Filtering</a:t>
            </a:r>
          </a:p>
          <a:p>
            <a:pPr algn="ctr"/>
            <a:r>
              <a:rPr lang="en-IN" sz="2400" dirty="0">
                <a:latin typeface="Times New Roman" panose="02020603050405020304" pitchFamily="18" charset="0"/>
                <a:cs typeface="Times New Roman" panose="02020603050405020304" pitchFamily="18" charset="0"/>
              </a:rPr>
              <a:t>Select relevant accident records and filter the required data.</a:t>
            </a:r>
          </a:p>
        </p:txBody>
      </p:sp>
      <p:sp>
        <p:nvSpPr>
          <p:cNvPr id="15" name="Arrow: Down 14">
            <a:extLst>
              <a:ext uri="{FF2B5EF4-FFF2-40B4-BE49-F238E27FC236}">
                <a16:creationId xmlns:a16="http://schemas.microsoft.com/office/drawing/2014/main" id="{D18714A5-46F1-BD0D-4A00-BB0C1211F660}"/>
              </a:ext>
            </a:extLst>
          </p:cNvPr>
          <p:cNvSpPr/>
          <p:nvPr/>
        </p:nvSpPr>
        <p:spPr>
          <a:xfrm>
            <a:off x="4756604" y="381464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16" name="TextBox 15">
            <a:extLst>
              <a:ext uri="{FF2B5EF4-FFF2-40B4-BE49-F238E27FC236}">
                <a16:creationId xmlns:a16="http://schemas.microsoft.com/office/drawing/2014/main" id="{D359C03E-C4CB-43D3-0C7D-3D50822A8B32}"/>
              </a:ext>
            </a:extLst>
          </p:cNvPr>
          <p:cNvSpPr txBox="1"/>
          <p:nvPr/>
        </p:nvSpPr>
        <p:spPr>
          <a:xfrm>
            <a:off x="1587389" y="4228115"/>
            <a:ext cx="6883615" cy="830997"/>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Module 3 – Data Extraction</a:t>
            </a:r>
          </a:p>
          <a:p>
            <a:pPr algn="ctr"/>
            <a:r>
              <a:rPr lang="en-IN" sz="2400" dirty="0">
                <a:latin typeface="Times New Roman" panose="02020603050405020304" pitchFamily="18" charset="0"/>
                <a:cs typeface="Times New Roman" panose="02020603050405020304" pitchFamily="18" charset="0"/>
              </a:rPr>
              <a:t>Extract important fields required for accident analysis.</a:t>
            </a:r>
            <a:endParaRPr lang="en-IN" sz="2400" b="1" dirty="0">
              <a:latin typeface="Times New Roman" panose="02020603050405020304" pitchFamily="18" charset="0"/>
              <a:cs typeface="Times New Roman" panose="02020603050405020304" pitchFamily="18" charset="0"/>
            </a:endParaRPr>
          </a:p>
        </p:txBody>
      </p:sp>
      <p:sp>
        <p:nvSpPr>
          <p:cNvPr id="18" name="Arrow: Down 17">
            <a:extLst>
              <a:ext uri="{FF2B5EF4-FFF2-40B4-BE49-F238E27FC236}">
                <a16:creationId xmlns:a16="http://schemas.microsoft.com/office/drawing/2014/main" id="{E02D8121-E16D-A49A-1052-85D8AFE05F58}"/>
              </a:ext>
            </a:extLst>
          </p:cNvPr>
          <p:cNvSpPr/>
          <p:nvPr/>
        </p:nvSpPr>
        <p:spPr>
          <a:xfrm>
            <a:off x="4754386" y="5469412"/>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21" name="TextBox 20">
            <a:extLst>
              <a:ext uri="{FF2B5EF4-FFF2-40B4-BE49-F238E27FC236}">
                <a16:creationId xmlns:a16="http://schemas.microsoft.com/office/drawing/2014/main" id="{B1C9C953-BED3-2F43-1A1F-3B7650BC3A88}"/>
              </a:ext>
            </a:extLst>
          </p:cNvPr>
          <p:cNvSpPr txBox="1"/>
          <p:nvPr/>
        </p:nvSpPr>
        <p:spPr>
          <a:xfrm>
            <a:off x="2460546" y="5841915"/>
            <a:ext cx="5029200" cy="1569660"/>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4 – Data Validation &amp; Cleaning</a:t>
            </a:r>
          </a:p>
          <a:p>
            <a:pPr algn="ctr">
              <a:buNone/>
            </a:pPr>
            <a:r>
              <a:rPr lang="en-IN" sz="2400" dirty="0">
                <a:latin typeface="Times New Roman" panose="02020603050405020304" pitchFamily="18" charset="0"/>
                <a:cs typeface="Times New Roman" panose="02020603050405020304" pitchFamily="18" charset="0"/>
              </a:rPr>
              <a:t>Check data quality, missing values, duplicates, and consistency.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C6D514-1AF0-EDB1-7078-687065ECF56B}"/>
              </a:ext>
            </a:extLst>
          </p:cNvPr>
          <p:cNvSpPr txBox="1"/>
          <p:nvPr/>
        </p:nvSpPr>
        <p:spPr>
          <a:xfrm>
            <a:off x="2414826" y="437450"/>
            <a:ext cx="5120640" cy="400110"/>
          </a:xfrm>
          <a:prstGeom prst="rect">
            <a:avLst/>
          </a:prstGeom>
          <a:noFill/>
        </p:spPr>
        <p:txBody>
          <a:bodyPr wrap="square">
            <a:spAutoFit/>
          </a:bodyPr>
          <a:lstStyle/>
          <a:p>
            <a:pPr algn="ctr">
              <a:spcAft>
                <a:spcPts val="700"/>
              </a:spcAft>
              <a:defRPr sz="2200" b="1">
                <a:solidFill>
                  <a:srgbClr val="233464"/>
                </a:solidFill>
                <a:latin typeface="Aptos"/>
              </a:defRPr>
            </a:pPr>
            <a:r>
              <a:rPr sz="2000" dirty="0">
                <a:solidFill>
                  <a:schemeClr val="bg1"/>
                </a:solidFill>
                <a:latin typeface="Times New Roman" pitchFamily="18" charset="0"/>
                <a:cs typeface="Times New Roman" pitchFamily="18" charset="0"/>
              </a:rPr>
              <a:t>METHODOLOGY</a:t>
            </a:r>
          </a:p>
        </p:txBody>
      </p:sp>
      <p:grpSp>
        <p:nvGrpSpPr>
          <p:cNvPr id="4" name="object 3">
            <a:extLst>
              <a:ext uri="{FF2B5EF4-FFF2-40B4-BE49-F238E27FC236}">
                <a16:creationId xmlns:a16="http://schemas.microsoft.com/office/drawing/2014/main" id="{F02D1B8B-963F-84C5-69F0-17C3EECCFD8D}"/>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BD448D2F-A85D-4EA9-4AFA-DBD143FFC367}"/>
                </a:ext>
              </a:extLst>
            </p:cNvPr>
            <p:cNvPicPr/>
            <p:nvPr/>
          </p:nvPicPr>
          <p:blipFill>
            <a:blip r:embed="rId3" cstate="print"/>
            <a:stretch>
              <a:fillRect/>
            </a:stretch>
          </p:blipFill>
          <p:spPr>
            <a:xfrm>
              <a:off x="2648188" y="47148"/>
              <a:ext cx="5103904" cy="1198311"/>
            </a:xfrm>
            <a:prstGeom prst="rect">
              <a:avLst/>
            </a:prstGeom>
          </p:spPr>
        </p:pic>
        <p:pic>
          <p:nvPicPr>
            <p:cNvPr id="21" name="object 5">
              <a:extLst>
                <a:ext uri="{FF2B5EF4-FFF2-40B4-BE49-F238E27FC236}">
                  <a16:creationId xmlns:a16="http://schemas.microsoft.com/office/drawing/2014/main" id="{70B9531E-FF63-3CBC-8C76-5101CEB24CF2}"/>
                </a:ext>
              </a:extLst>
            </p:cNvPr>
            <p:cNvPicPr/>
            <p:nvPr/>
          </p:nvPicPr>
          <p:blipFill>
            <a:blip r:embed="rId4" cstate="print"/>
            <a:stretch>
              <a:fillRect/>
            </a:stretch>
          </p:blipFill>
          <p:spPr>
            <a:xfrm>
              <a:off x="2703195" y="86439"/>
              <a:ext cx="4997767" cy="1092279"/>
            </a:xfrm>
            <a:prstGeom prst="rect">
              <a:avLst/>
            </a:prstGeom>
          </p:spPr>
        </p:pic>
        <p:pic>
          <p:nvPicPr>
            <p:cNvPr id="22" name="object 6">
              <a:extLst>
                <a:ext uri="{FF2B5EF4-FFF2-40B4-BE49-F238E27FC236}">
                  <a16:creationId xmlns:a16="http://schemas.microsoft.com/office/drawing/2014/main" id="{A51A82D2-D894-569F-6C1F-514FA4F12972}"/>
                </a:ext>
              </a:extLst>
            </p:cNvPr>
            <p:cNvPicPr/>
            <p:nvPr/>
          </p:nvPicPr>
          <p:blipFill>
            <a:blip r:embed="rId5" cstate="print"/>
            <a:stretch>
              <a:fillRect/>
            </a:stretch>
          </p:blipFill>
          <p:spPr>
            <a:xfrm>
              <a:off x="2828925" y="243549"/>
              <a:ext cx="4585268" cy="522565"/>
            </a:xfrm>
            <a:prstGeom prst="rect">
              <a:avLst/>
            </a:prstGeom>
          </p:spPr>
        </p:pic>
        <p:sp>
          <p:nvSpPr>
            <p:cNvPr id="23" name="object 7">
              <a:extLst>
                <a:ext uri="{FF2B5EF4-FFF2-40B4-BE49-F238E27FC236}">
                  <a16:creationId xmlns:a16="http://schemas.microsoft.com/office/drawing/2014/main" id="{B3782B54-B821-DE87-C2B7-79ECF9E77AF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2000"/>
            </a:p>
          </p:txBody>
        </p:sp>
      </p:grpSp>
      <p:sp>
        <p:nvSpPr>
          <p:cNvPr id="25" name="TextBox 24">
            <a:extLst>
              <a:ext uri="{FF2B5EF4-FFF2-40B4-BE49-F238E27FC236}">
                <a16:creationId xmlns:a16="http://schemas.microsoft.com/office/drawing/2014/main" id="{A5CA9835-2A27-E3B2-E349-E0FE4429CFBE}"/>
              </a:ext>
            </a:extLst>
          </p:cNvPr>
          <p:cNvSpPr txBox="1"/>
          <p:nvPr/>
        </p:nvSpPr>
        <p:spPr>
          <a:xfrm>
            <a:off x="2586213" y="413290"/>
            <a:ext cx="5029200" cy="400110"/>
          </a:xfrm>
          <a:prstGeom prst="rect">
            <a:avLst/>
          </a:prstGeom>
          <a:noFill/>
        </p:spPr>
        <p:txBody>
          <a:bodyPr wrap="square">
            <a:spAutoFit/>
          </a:bodyPr>
          <a:lstStyle/>
          <a:p>
            <a:pPr algn="ctr">
              <a:spcAft>
                <a:spcPts val="700"/>
              </a:spcAft>
              <a:defRPr sz="2200" b="1">
                <a:solidFill>
                  <a:srgbClr val="233464"/>
                </a:solidFill>
                <a:latin typeface="Aptos"/>
              </a:defRPr>
            </a:pPr>
            <a:r>
              <a:rPr lang="en-IN" sz="2000" dirty="0">
                <a:solidFill>
                  <a:schemeClr val="bg1"/>
                </a:solidFill>
                <a:latin typeface="Times New Roman" pitchFamily="18" charset="0"/>
                <a:cs typeface="Times New Roman" pitchFamily="18" charset="0"/>
              </a:rPr>
              <a:t>METHODOLOGY</a:t>
            </a:r>
          </a:p>
        </p:txBody>
      </p:sp>
      <p:sp>
        <p:nvSpPr>
          <p:cNvPr id="27" name="TextBox 26">
            <a:extLst>
              <a:ext uri="{FF2B5EF4-FFF2-40B4-BE49-F238E27FC236}">
                <a16:creationId xmlns:a16="http://schemas.microsoft.com/office/drawing/2014/main" id="{769BA950-6049-F76A-4A0C-CF5ED87D2763}"/>
              </a:ext>
            </a:extLst>
          </p:cNvPr>
          <p:cNvSpPr txBox="1"/>
          <p:nvPr/>
        </p:nvSpPr>
        <p:spPr>
          <a:xfrm>
            <a:off x="1737684" y="938093"/>
            <a:ext cx="7101516"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5 –Data Aggregation &amp; Representation</a:t>
            </a:r>
          </a:p>
          <a:p>
            <a:pPr algn="ctr">
              <a:buNone/>
            </a:pPr>
            <a:r>
              <a:rPr lang="en-IN" sz="2400" dirty="0">
                <a:latin typeface="Times New Roman" panose="02020603050405020304" pitchFamily="18" charset="0"/>
                <a:cs typeface="Times New Roman" panose="02020603050405020304" pitchFamily="18" charset="0"/>
              </a:rPr>
              <a:t>Group and summarize accident data for meaningful comparison.</a:t>
            </a:r>
          </a:p>
        </p:txBody>
      </p:sp>
      <p:sp>
        <p:nvSpPr>
          <p:cNvPr id="29" name="Arrow: Down 28">
            <a:extLst>
              <a:ext uri="{FF2B5EF4-FFF2-40B4-BE49-F238E27FC236}">
                <a16:creationId xmlns:a16="http://schemas.microsoft.com/office/drawing/2014/main" id="{3B0312D2-1C2D-0FC3-47A4-8970E0D691E7}"/>
              </a:ext>
            </a:extLst>
          </p:cNvPr>
          <p:cNvSpPr/>
          <p:nvPr/>
        </p:nvSpPr>
        <p:spPr>
          <a:xfrm>
            <a:off x="4850336" y="2242125"/>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6FA49019-54D3-0F1F-3651-5D4892AE3078}"/>
              </a:ext>
            </a:extLst>
          </p:cNvPr>
          <p:cNvSpPr txBox="1"/>
          <p:nvPr/>
        </p:nvSpPr>
        <p:spPr>
          <a:xfrm>
            <a:off x="2590800" y="2612335"/>
            <a:ext cx="48768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6 – Data Analysis</a:t>
            </a:r>
          </a:p>
          <a:p>
            <a:pPr algn="ctr">
              <a:buNone/>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accident patterns, trends, and relationships between variables.</a:t>
            </a:r>
            <a:endParaRPr lang="en-IN" sz="2400" b="1" dirty="0">
              <a:latin typeface="Times New Roman" panose="02020603050405020304" pitchFamily="18" charset="0"/>
              <a:cs typeface="Times New Roman" panose="02020603050405020304" pitchFamily="18" charset="0"/>
            </a:endParaRPr>
          </a:p>
        </p:txBody>
      </p:sp>
      <p:sp>
        <p:nvSpPr>
          <p:cNvPr id="33" name="Arrow: Down 32">
            <a:extLst>
              <a:ext uri="{FF2B5EF4-FFF2-40B4-BE49-F238E27FC236}">
                <a16:creationId xmlns:a16="http://schemas.microsoft.com/office/drawing/2014/main" id="{6D0F4567-D057-4BE7-32A7-334EC2164A2C}"/>
              </a:ext>
            </a:extLst>
          </p:cNvPr>
          <p:cNvSpPr/>
          <p:nvPr/>
        </p:nvSpPr>
        <p:spPr>
          <a:xfrm>
            <a:off x="4850336" y="3959586"/>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5" name="TextBox 34">
            <a:extLst>
              <a:ext uri="{FF2B5EF4-FFF2-40B4-BE49-F238E27FC236}">
                <a16:creationId xmlns:a16="http://schemas.microsoft.com/office/drawing/2014/main" id="{53C43C12-4B70-F721-9E0A-DD8370D3BABC}"/>
              </a:ext>
            </a:extLst>
          </p:cNvPr>
          <p:cNvSpPr txBox="1"/>
          <p:nvPr/>
        </p:nvSpPr>
        <p:spPr>
          <a:xfrm>
            <a:off x="2645807" y="4271243"/>
            <a:ext cx="5029200" cy="1200329"/>
          </a:xfrm>
          <a:prstGeom prst="rect">
            <a:avLst/>
          </a:prstGeom>
          <a:noFill/>
        </p:spPr>
        <p:txBody>
          <a:bodyPr wrap="square">
            <a:spAutoFit/>
          </a:bodyPr>
          <a:lstStyle/>
          <a:p>
            <a:pPr algn="ctr">
              <a:buNone/>
            </a:pPr>
            <a:r>
              <a:rPr lang="en-IN" sz="2400" b="1" dirty="0">
                <a:latin typeface="Times New Roman" panose="02020603050405020304" pitchFamily="18" charset="0"/>
                <a:cs typeface="Times New Roman" panose="02020603050405020304" pitchFamily="18" charset="0"/>
              </a:rPr>
              <a:t>Module 7 – Data Visualization</a:t>
            </a:r>
          </a:p>
          <a:p>
            <a:pPr algn="ctr">
              <a:buNone/>
            </a:pPr>
            <a:r>
              <a:rPr lang="en-IN" sz="2400" dirty="0">
                <a:latin typeface="Times New Roman" panose="02020603050405020304" pitchFamily="18" charset="0"/>
                <a:cs typeface="Times New Roman" panose="02020603050405020304" pitchFamily="18" charset="0"/>
              </a:rPr>
              <a:t>Create bar charts, pie charts, trend charts, and correlation heatmaps.</a:t>
            </a:r>
            <a:endParaRPr lang="en-IN" sz="2400" b="1" dirty="0">
              <a:latin typeface="Times New Roman" panose="02020603050405020304" pitchFamily="18" charset="0"/>
              <a:cs typeface="Times New Roman" panose="02020603050405020304" pitchFamily="18" charset="0"/>
            </a:endParaRPr>
          </a:p>
        </p:txBody>
      </p:sp>
      <p:sp>
        <p:nvSpPr>
          <p:cNvPr id="37" name="Arrow: Down 36">
            <a:extLst>
              <a:ext uri="{FF2B5EF4-FFF2-40B4-BE49-F238E27FC236}">
                <a16:creationId xmlns:a16="http://schemas.microsoft.com/office/drawing/2014/main" id="{D2A13C47-9211-7F6A-3235-E7CA857CC45D}"/>
              </a:ext>
            </a:extLst>
          </p:cNvPr>
          <p:cNvSpPr/>
          <p:nvPr/>
        </p:nvSpPr>
        <p:spPr>
          <a:xfrm>
            <a:off x="4850336" y="5576154"/>
            <a:ext cx="357728" cy="3116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ln w="0">
                <a:solidFill>
                  <a:schemeClr val="tx1"/>
                </a:solidFill>
              </a:ln>
              <a:solidFill>
                <a:schemeClr val="tx1"/>
              </a:solidFill>
              <a:effectLst>
                <a:outerShdw blurRad="38100" dist="19050" dir="2700000" algn="tl" rotWithShape="0">
                  <a:schemeClr val="dk1">
                    <a:alpha val="40000"/>
                  </a:schemeClr>
                </a:outerShdw>
              </a:effectLst>
            </a:endParaRPr>
          </a:p>
        </p:txBody>
      </p:sp>
      <p:sp>
        <p:nvSpPr>
          <p:cNvPr id="39" name="TextBox 38">
            <a:extLst>
              <a:ext uri="{FF2B5EF4-FFF2-40B4-BE49-F238E27FC236}">
                <a16:creationId xmlns:a16="http://schemas.microsoft.com/office/drawing/2014/main" id="{A378BCE5-A3E9-0942-2521-8A05596F86BE}"/>
              </a:ext>
            </a:extLst>
          </p:cNvPr>
          <p:cNvSpPr txBox="1"/>
          <p:nvPr/>
        </p:nvSpPr>
        <p:spPr>
          <a:xfrm>
            <a:off x="2675624" y="5946716"/>
            <a:ext cx="6392176" cy="1200329"/>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Module 8 – Results &amp; Interpretation</a:t>
            </a:r>
          </a:p>
          <a:p>
            <a:pPr>
              <a:buNone/>
            </a:pPr>
            <a:r>
              <a:rPr lang="en-IN" sz="2400" dirty="0">
                <a:latin typeface="Times New Roman" panose="02020603050405020304" pitchFamily="18" charset="0"/>
                <a:cs typeface="Times New Roman" panose="02020603050405020304" pitchFamily="18" charset="0"/>
              </a:rPr>
              <a:t>Interpret the visualized results and identify important accident patterns and findings.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217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object 3">
            <a:extLst>
              <a:ext uri="{FF2B5EF4-FFF2-40B4-BE49-F238E27FC236}">
                <a16:creationId xmlns:a16="http://schemas.microsoft.com/office/drawing/2014/main" id="{D26E0863-A3EE-1EC4-F128-4D4F1A60D3A0}"/>
              </a:ext>
            </a:extLst>
          </p:cNvPr>
          <p:cNvGrpSpPr/>
          <p:nvPr/>
        </p:nvGrpSpPr>
        <p:grpSpPr>
          <a:xfrm>
            <a:off x="2590800" y="161097"/>
            <a:ext cx="5103904" cy="1198311"/>
            <a:chOff x="2648188" y="47148"/>
            <a:chExt cx="5103904" cy="1198311"/>
          </a:xfrm>
        </p:grpSpPr>
        <p:pic>
          <p:nvPicPr>
            <p:cNvPr id="21"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22"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23"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24"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2468880" y="396841"/>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lang="en-IN" dirty="0">
                <a:solidFill>
                  <a:schemeClr val="bg1"/>
                </a:solidFill>
                <a:latin typeface="Times New Roman" pitchFamily="18" charset="0"/>
                <a:cs typeface="Times New Roman" pitchFamily="18" charset="0"/>
              </a:rPr>
              <a:t>Data Visualization</a:t>
            </a:r>
            <a:endParaRPr dirty="0">
              <a:solidFill>
                <a:schemeClr val="bg1"/>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546575B-6358-27B3-F8D2-469A0F45EFD0}"/>
              </a:ext>
            </a:extLst>
          </p:cNvPr>
          <p:cNvPicPr>
            <a:picLocks noChangeAspect="1"/>
          </p:cNvPicPr>
          <p:nvPr/>
        </p:nvPicPr>
        <p:blipFill>
          <a:blip r:embed="rId5"/>
          <a:stretch>
            <a:fillRect/>
          </a:stretch>
        </p:blipFill>
        <p:spPr>
          <a:xfrm>
            <a:off x="5519811" y="1051202"/>
            <a:ext cx="4139417" cy="2834998"/>
          </a:xfrm>
          <a:prstGeom prst="rect">
            <a:avLst/>
          </a:prstGeom>
        </p:spPr>
      </p:pic>
      <p:pic>
        <p:nvPicPr>
          <p:cNvPr id="7" name="Picture 6">
            <a:extLst>
              <a:ext uri="{FF2B5EF4-FFF2-40B4-BE49-F238E27FC236}">
                <a16:creationId xmlns:a16="http://schemas.microsoft.com/office/drawing/2014/main" id="{5C2C5270-8BE7-7B15-326F-42D938D65128}"/>
              </a:ext>
            </a:extLst>
          </p:cNvPr>
          <p:cNvPicPr>
            <a:picLocks noChangeAspect="1"/>
          </p:cNvPicPr>
          <p:nvPr/>
        </p:nvPicPr>
        <p:blipFill>
          <a:blip r:embed="rId6"/>
          <a:stretch>
            <a:fillRect/>
          </a:stretch>
        </p:blipFill>
        <p:spPr>
          <a:xfrm>
            <a:off x="304800" y="3927660"/>
            <a:ext cx="9067800" cy="3683643"/>
          </a:xfrm>
          <a:prstGeom prst="rect">
            <a:avLst/>
          </a:prstGeom>
        </p:spPr>
      </p:pic>
      <p:pic>
        <p:nvPicPr>
          <p:cNvPr id="11" name="Picture 10">
            <a:extLst>
              <a:ext uri="{FF2B5EF4-FFF2-40B4-BE49-F238E27FC236}">
                <a16:creationId xmlns:a16="http://schemas.microsoft.com/office/drawing/2014/main" id="{13161309-B0C9-7297-A24A-2C2EEDBFED25}"/>
              </a:ext>
            </a:extLst>
          </p:cNvPr>
          <p:cNvPicPr>
            <a:picLocks noChangeAspect="1"/>
          </p:cNvPicPr>
          <p:nvPr/>
        </p:nvPicPr>
        <p:blipFill>
          <a:blip r:embed="rId7"/>
          <a:stretch>
            <a:fillRect/>
          </a:stretch>
        </p:blipFill>
        <p:spPr>
          <a:xfrm>
            <a:off x="626276" y="1022627"/>
            <a:ext cx="4139416" cy="2762469"/>
          </a:xfrm>
          <a:prstGeom prst="rect">
            <a:avLst/>
          </a:prstGeom>
        </p:spPr>
      </p:pic>
    </p:spTree>
    <p:extLst>
      <p:ext uri="{BB962C8B-B14F-4D97-AF65-F5344CB8AC3E}">
        <p14:creationId xmlns:p14="http://schemas.microsoft.com/office/powerpoint/2010/main" val="375160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26E0863-A3EE-1EC4-F128-4D4F1A60D3A0}"/>
              </a:ext>
            </a:extLst>
          </p:cNvPr>
          <p:cNvGrpSpPr/>
          <p:nvPr/>
        </p:nvGrpSpPr>
        <p:grpSpPr>
          <a:xfrm>
            <a:off x="2590800" y="0"/>
            <a:ext cx="5103904" cy="1198311"/>
            <a:chOff x="2648188" y="47148"/>
            <a:chExt cx="5103904" cy="1198311"/>
          </a:xfrm>
        </p:grpSpPr>
        <p:pic>
          <p:nvPicPr>
            <p:cNvPr id="5" name="object 4">
              <a:extLst>
                <a:ext uri="{FF2B5EF4-FFF2-40B4-BE49-F238E27FC236}">
                  <a16:creationId xmlns:a16="http://schemas.microsoft.com/office/drawing/2014/main" id="{77890B8C-7EC3-B7B1-BF56-4F5DE13755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9CC3DEB-E45E-85F9-CD38-C2C4966FBC30}"/>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C3D8E05-12DF-F9A5-1AF2-87C24DA53BB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F5B48B8-D150-0E57-59D0-4E3B78C2948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solidFill>
                    <a:schemeClr val="bg1"/>
                  </a:solidFill>
                  <a:latin typeface="Times New Roman" panose="02020603050405020304" pitchFamily="18" charset="0"/>
                  <a:cs typeface="Times New Roman" panose="02020603050405020304" pitchFamily="18" charset="0"/>
                </a:rPr>
                <a:t>                       </a:t>
              </a: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9" name="TextBox 8"/>
          <p:cNvSpPr txBox="1"/>
          <p:nvPr/>
        </p:nvSpPr>
        <p:spPr>
          <a:xfrm>
            <a:off x="3429000" y="152400"/>
            <a:ext cx="3265998" cy="830997"/>
          </a:xfrm>
          <a:prstGeom prst="rect">
            <a:avLst/>
          </a:prstGeom>
          <a:noFill/>
        </p:spPr>
        <p:txBody>
          <a:bodyPr wrap="square" rtlCol="0">
            <a:spAutoFit/>
          </a:bodyPr>
          <a:lstStyle/>
          <a:p>
            <a:pPr algn="ctr"/>
            <a:r>
              <a:rPr lang="en-IN" sz="2400" dirty="0">
                <a:solidFill>
                  <a:schemeClr val="bg1"/>
                </a:solidFill>
                <a:latin typeface="Times New Roman" pitchFamily="18" charset="0"/>
                <a:cs typeface="Times New Roman" pitchFamily="18" charset="0"/>
              </a:rPr>
              <a:t>Key Insights &amp; Analysis</a:t>
            </a:r>
          </a:p>
          <a:p>
            <a:endParaRPr lang="en-US" sz="2400" dirty="0"/>
          </a:p>
        </p:txBody>
      </p:sp>
      <p:sp>
        <p:nvSpPr>
          <p:cNvPr id="10" name="TextBox 9"/>
          <p:cNvSpPr txBox="1"/>
          <p:nvPr/>
        </p:nvSpPr>
        <p:spPr>
          <a:xfrm>
            <a:off x="533400" y="1237602"/>
            <a:ext cx="8976360" cy="6555641"/>
          </a:xfrm>
          <a:prstGeom prst="rect">
            <a:avLst/>
          </a:prstGeom>
          <a:noFill/>
        </p:spPr>
        <p:txBody>
          <a:bodyPr wrap="square">
            <a:spAutoFit/>
          </a:bodyPr>
          <a:lstStyle/>
          <a:p>
            <a:pPr>
              <a:spcAft>
                <a:spcPts val="1400"/>
              </a:spcAft>
            </a:pPr>
            <a:r>
              <a:rPr lang="en-IN" sz="2800" dirty="0">
                <a:latin typeface="Times New Roman" panose="02020603050405020304" pitchFamily="18" charset="0"/>
                <a:cs typeface="Times New Roman" panose="02020603050405020304" pitchFamily="18" charset="0"/>
              </a:rPr>
              <a:t>• 2024 recorded the highest number of accidents with 72 cases.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Fatal accidents were the most common severity category, with 118 cases.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Overspeeding</a:t>
            </a:r>
            <a:r>
              <a:rPr lang="en-IN" sz="2800" dirty="0">
                <a:latin typeface="Times New Roman" panose="02020603050405020304" pitchFamily="18" charset="0"/>
                <a:cs typeface="Times New Roman" panose="02020603050405020304" pitchFamily="18" charset="0"/>
              </a:rPr>
              <a:t> was the leading recorded cause, appearing in 74 accidents.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Two-wheelers were the most common vehicle type, involved in 81 accidents.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81.7% of the recorded accidents exceeded the road speed limit.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21.7% of accidents involved alcohol, while 29.6% involved pedestrians.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Daylight accidents were more common, with 135 recorded cases.</a:t>
            </a:r>
            <a:br>
              <a:rPr lang="en-IN" sz="2800" dirty="0">
                <a:latin typeface="Times New Roman" panose="02020603050405020304" pitchFamily="18" charset="0"/>
                <a:cs typeface="Times New Roman" panose="02020603050405020304" pitchFamily="18" charset="0"/>
              </a:rPr>
            </a:br>
            <a:endParaRPr sz="2800" dirty="0">
              <a:solidFill>
                <a:srgbClr val="2D2D2D"/>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67ACC245-70D9-3E8C-5FB8-754CFCF29BA7}"/>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520D471-D4E5-A862-75B1-D9BCC13CCE7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D22DAB3-C37B-1766-28C4-6EB13F7079C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DC96198-DF83-D7E8-5187-D35038090D7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AA191BE-B616-456E-A32A-06C5D11989B1}"/>
                </a:ext>
              </a:extLst>
            </p:cNvPr>
            <p:cNvSpPr/>
            <p:nvPr/>
          </p:nvSpPr>
          <p:spPr>
            <a:xfrm>
              <a:off x="2828925" y="282892"/>
              <a:ext cx="4534295"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US" dirty="0"/>
                <a:t>                     </a:t>
              </a:r>
              <a:endParaRPr sz="2800" dirty="0">
                <a:solidFill>
                  <a:schemeClr val="bg1"/>
                </a:solidFill>
              </a:endParaRPr>
            </a:p>
          </p:txBody>
        </p:sp>
      </p:grpSp>
      <p:sp>
        <p:nvSpPr>
          <p:cNvPr id="12" name="TextBox 11"/>
          <p:cNvSpPr txBox="1"/>
          <p:nvPr/>
        </p:nvSpPr>
        <p:spPr>
          <a:xfrm>
            <a:off x="2477248" y="3938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Implementation Workflow</a:t>
            </a:r>
          </a:p>
        </p:txBody>
      </p:sp>
      <p:sp>
        <p:nvSpPr>
          <p:cNvPr id="14" name="Chevron 13"/>
          <p:cNvSpPr/>
          <p:nvPr/>
        </p:nvSpPr>
        <p:spPr>
          <a:xfrm>
            <a:off x="365758" y="1955239"/>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1. Data
</a:t>
            </a:r>
            <a:r>
              <a:rPr lang="en-US" sz="1300" b="1" dirty="0">
                <a:solidFill>
                  <a:srgbClr val="FFFFFF"/>
                </a:solidFill>
                <a:latin typeface="Times New Roman"/>
              </a:rPr>
              <a:t>Loading </a:t>
            </a:r>
            <a:r>
              <a:rPr lang="en-US" sz="1300" b="1">
                <a:solidFill>
                  <a:srgbClr val="FFFFFF"/>
                </a:solidFill>
                <a:latin typeface="Times New Roman"/>
              </a:rPr>
              <a:t>&amp; Reading </a:t>
            </a:r>
            <a:endParaRPr sz="1300" b="1" dirty="0">
              <a:solidFill>
                <a:srgbClr val="FFFFFF"/>
              </a:solidFill>
              <a:latin typeface="Times New Roman"/>
            </a:endParaRPr>
          </a:p>
        </p:txBody>
      </p:sp>
      <p:sp>
        <p:nvSpPr>
          <p:cNvPr id="15" name="Chevron 14"/>
          <p:cNvSpPr/>
          <p:nvPr/>
        </p:nvSpPr>
        <p:spPr>
          <a:xfrm>
            <a:off x="3291839" y="196596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2. Data
</a:t>
            </a:r>
            <a:r>
              <a:rPr lang="en-US" sz="1300" b="1" dirty="0">
                <a:solidFill>
                  <a:srgbClr val="FFFFFF"/>
                </a:solidFill>
                <a:latin typeface="Times New Roman"/>
              </a:rPr>
              <a:t>Acquisition &amp; Filtering</a:t>
            </a:r>
            <a:endParaRPr sz="1300" b="1" dirty="0">
              <a:solidFill>
                <a:srgbClr val="FFFFFF"/>
              </a:solidFill>
              <a:latin typeface="Times New Roman"/>
            </a:endParaRPr>
          </a:p>
        </p:txBody>
      </p:sp>
      <p:sp>
        <p:nvSpPr>
          <p:cNvPr id="16" name="Chevron 15"/>
          <p:cNvSpPr/>
          <p:nvPr/>
        </p:nvSpPr>
        <p:spPr>
          <a:xfrm>
            <a:off x="6217920" y="196596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3. </a:t>
            </a:r>
            <a:r>
              <a:rPr lang="en-US" sz="1300" b="1" dirty="0">
                <a:solidFill>
                  <a:srgbClr val="FFFFFF"/>
                </a:solidFill>
                <a:latin typeface="Times New Roman"/>
              </a:rPr>
              <a:t>Data Extraction</a:t>
            </a:r>
            <a:endParaRPr sz="1300" b="1" dirty="0">
              <a:solidFill>
                <a:srgbClr val="FFFFFF"/>
              </a:solidFill>
              <a:latin typeface="Times New Roman"/>
            </a:endParaRPr>
          </a:p>
        </p:txBody>
      </p:sp>
      <p:sp>
        <p:nvSpPr>
          <p:cNvPr id="17" name="Chevron 16"/>
          <p:cNvSpPr/>
          <p:nvPr/>
        </p:nvSpPr>
        <p:spPr>
          <a:xfrm>
            <a:off x="36576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4.</a:t>
            </a:r>
            <a:r>
              <a:rPr lang="en-US" sz="1300" b="1" dirty="0">
                <a:solidFill>
                  <a:srgbClr val="FFFFFF"/>
                </a:solidFill>
                <a:latin typeface="Times New Roman"/>
              </a:rPr>
              <a:t> Data Validation &amp; Cleaning</a:t>
            </a:r>
            <a:endParaRPr sz="1300" b="1" dirty="0">
              <a:solidFill>
                <a:srgbClr val="FFFFFF"/>
              </a:solidFill>
              <a:latin typeface="Times New Roman"/>
            </a:endParaRPr>
          </a:p>
        </p:txBody>
      </p:sp>
      <p:sp>
        <p:nvSpPr>
          <p:cNvPr id="18" name="Chevron 17"/>
          <p:cNvSpPr/>
          <p:nvPr/>
        </p:nvSpPr>
        <p:spPr>
          <a:xfrm>
            <a:off x="3291839" y="3703320"/>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5. </a:t>
            </a:r>
            <a:r>
              <a:rPr lang="en-US" sz="1300" b="1" dirty="0">
                <a:solidFill>
                  <a:srgbClr val="FFFFFF"/>
                </a:solidFill>
                <a:latin typeface="Times New Roman"/>
              </a:rPr>
              <a:t>Data Aggregation &amp; Representation</a:t>
            </a:r>
            <a:endParaRPr sz="1300" b="1" dirty="0">
              <a:solidFill>
                <a:srgbClr val="FFFFFF"/>
              </a:solidFill>
              <a:latin typeface="Times New Roman"/>
            </a:endParaRPr>
          </a:p>
        </p:txBody>
      </p:sp>
      <p:sp>
        <p:nvSpPr>
          <p:cNvPr id="19" name="Chevron 18"/>
          <p:cNvSpPr/>
          <p:nvPr/>
        </p:nvSpPr>
        <p:spPr>
          <a:xfrm>
            <a:off x="6217920" y="370332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dirty="0">
                <a:solidFill>
                  <a:srgbClr val="FFFFFF"/>
                </a:solidFill>
                <a:latin typeface="Times New Roman"/>
              </a:rPr>
              <a:t>6. </a:t>
            </a:r>
            <a:r>
              <a:rPr lang="en-US" sz="1300" b="1" dirty="0">
                <a:solidFill>
                  <a:srgbClr val="FFFFFF"/>
                </a:solidFill>
                <a:latin typeface="Times New Roman"/>
              </a:rPr>
              <a:t>Data Analysis</a:t>
            </a:r>
            <a:endParaRPr sz="1300" b="1" dirty="0">
              <a:solidFill>
                <a:srgbClr val="FFFFFF"/>
              </a:solidFill>
              <a:latin typeface="Times New Roman"/>
            </a:endParaRPr>
          </a:p>
        </p:txBody>
      </p:sp>
      <p:sp>
        <p:nvSpPr>
          <p:cNvPr id="20" name="Down Arrow 19"/>
          <p:cNvSpPr/>
          <p:nvPr/>
        </p:nvSpPr>
        <p:spPr>
          <a:xfrm>
            <a:off x="4572000" y="2999232"/>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07814" y="6858000"/>
            <a:ext cx="5588925" cy="307777"/>
          </a:xfrm>
          <a:prstGeom prst="rect">
            <a:avLst/>
          </a:prstGeom>
          <a:noFill/>
        </p:spPr>
        <p:txBody>
          <a:bodyPr wrap="square">
            <a:spAutoFit/>
          </a:bodyPr>
          <a:lstStyle/>
          <a:p>
            <a:pPr algn="ctr"/>
            <a:r>
              <a:rPr lang="en-IN" sz="1400" dirty="0">
                <a:solidFill>
                  <a:schemeClr val="tx2">
                    <a:lumMod val="75000"/>
                  </a:schemeClr>
                </a:solidFill>
                <a:latin typeface="Times New Roman" panose="02020603050405020304" pitchFamily="18" charset="0"/>
                <a:cs typeface="Times New Roman" panose="02020603050405020304" pitchFamily="18" charset="0"/>
              </a:rPr>
              <a:t>Output: Cleaned Dataset → Analysis → Visualizations → Key Insights</a:t>
            </a:r>
            <a:endParaRPr sz="1300" i="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5" name="Chevron 13">
            <a:extLst>
              <a:ext uri="{FF2B5EF4-FFF2-40B4-BE49-F238E27FC236}">
                <a16:creationId xmlns:a16="http://schemas.microsoft.com/office/drawing/2014/main" id="{E2758E1F-EB41-8C2D-294E-517046899F68}"/>
              </a:ext>
            </a:extLst>
          </p:cNvPr>
          <p:cNvSpPr/>
          <p:nvPr/>
        </p:nvSpPr>
        <p:spPr>
          <a:xfrm>
            <a:off x="1955982" y="5426968"/>
            <a:ext cx="3246120" cy="960120"/>
          </a:xfrm>
          <a:prstGeom prst="chevron">
            <a:avLst/>
          </a:prstGeom>
          <a:solidFill>
            <a:srgbClr val="23346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00" b="1" dirty="0">
                <a:solidFill>
                  <a:srgbClr val="FFFFFF"/>
                </a:solidFill>
                <a:latin typeface="Times New Roman"/>
              </a:rPr>
              <a:t>7. Data Visualization</a:t>
            </a:r>
            <a:endParaRPr sz="1300" b="1" dirty="0">
              <a:solidFill>
                <a:srgbClr val="FFFFFF"/>
              </a:solidFill>
              <a:latin typeface="Times New Roman"/>
            </a:endParaRPr>
          </a:p>
        </p:txBody>
      </p:sp>
      <p:sp>
        <p:nvSpPr>
          <p:cNvPr id="22" name="Chevron 14">
            <a:extLst>
              <a:ext uri="{FF2B5EF4-FFF2-40B4-BE49-F238E27FC236}">
                <a16:creationId xmlns:a16="http://schemas.microsoft.com/office/drawing/2014/main" id="{5A54AB70-3E30-C210-0CBE-37D21F9B7CD4}"/>
              </a:ext>
            </a:extLst>
          </p:cNvPr>
          <p:cNvSpPr/>
          <p:nvPr/>
        </p:nvSpPr>
        <p:spPr>
          <a:xfrm>
            <a:off x="4950619" y="5440680"/>
            <a:ext cx="3246120" cy="960120"/>
          </a:xfrm>
          <a:prstGeom prst="chevron">
            <a:avLst/>
          </a:prstGeom>
          <a:solidFill>
            <a:srgbClr val="FF66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00" b="1" dirty="0">
                <a:solidFill>
                  <a:srgbClr val="FFFFFF"/>
                </a:solidFill>
                <a:latin typeface="Times New Roman"/>
              </a:rPr>
              <a:t>8. Results &amp; Interpretation</a:t>
            </a:r>
            <a:endParaRPr sz="1300" b="1" dirty="0">
              <a:solidFill>
                <a:srgbClr val="FFFFFF"/>
              </a:solidFill>
              <a:latin typeface="Times New Roman"/>
            </a:endParaRPr>
          </a:p>
        </p:txBody>
      </p:sp>
      <p:sp>
        <p:nvSpPr>
          <p:cNvPr id="30" name="Down Arrow 19">
            <a:extLst>
              <a:ext uri="{FF2B5EF4-FFF2-40B4-BE49-F238E27FC236}">
                <a16:creationId xmlns:a16="http://schemas.microsoft.com/office/drawing/2014/main" id="{FB61C626-30FD-92C8-145B-4F25620202A6}"/>
              </a:ext>
            </a:extLst>
          </p:cNvPr>
          <p:cNvSpPr/>
          <p:nvPr/>
        </p:nvSpPr>
        <p:spPr>
          <a:xfrm>
            <a:off x="4605092" y="4760616"/>
            <a:ext cx="640080" cy="640080"/>
          </a:xfrm>
          <a:prstGeom prst="downArrow">
            <a:avLst/>
          </a:prstGeom>
          <a:solidFill>
            <a:srgbClr val="C25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4935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14" name="TextBox 13"/>
          <p:cNvSpPr txBox="1"/>
          <p:nvPr/>
        </p:nvSpPr>
        <p:spPr>
          <a:xfrm>
            <a:off x="2488870" y="368446"/>
            <a:ext cx="5120640" cy="430887"/>
          </a:xfrm>
          <a:prstGeom prst="rect">
            <a:avLst/>
          </a:prstGeom>
          <a:noFill/>
        </p:spPr>
        <p:txBody>
          <a:bodyPr wrap="square">
            <a:spAutoFit/>
          </a:bodyPr>
          <a:lstStyle/>
          <a:p>
            <a:pPr algn="ctr">
              <a:spcAft>
                <a:spcPts val="700"/>
              </a:spcAft>
              <a:defRPr sz="2200" b="1">
                <a:solidFill>
                  <a:srgbClr val="233464"/>
                </a:solidFill>
                <a:latin typeface="Aptos"/>
              </a:defRPr>
            </a:pPr>
            <a:r>
              <a:rPr dirty="0">
                <a:solidFill>
                  <a:schemeClr val="bg1"/>
                </a:solidFill>
                <a:latin typeface="Times New Roman" pitchFamily="18" charset="0"/>
                <a:cs typeface="Times New Roman" pitchFamily="18" charset="0"/>
              </a:rPr>
              <a:t>CONCLUSION</a:t>
            </a:r>
          </a:p>
        </p:txBody>
      </p:sp>
      <p:sp>
        <p:nvSpPr>
          <p:cNvPr id="15" name="TextBox 14"/>
          <p:cNvSpPr txBox="1"/>
          <p:nvPr/>
        </p:nvSpPr>
        <p:spPr>
          <a:xfrm>
            <a:off x="777240" y="1463040"/>
            <a:ext cx="8412480" cy="4401205"/>
          </a:xfrm>
          <a:prstGeom prst="rect">
            <a:avLst/>
          </a:prstGeom>
          <a:noFill/>
        </p:spPr>
        <p:txBody>
          <a:bodyPr wrap="square">
            <a:spAutoFit/>
          </a:bodyPr>
          <a:lstStyle/>
          <a:p>
            <a:pPr algn="l">
              <a:spcAft>
                <a:spcPts val="700"/>
              </a:spcAft>
              <a:defRPr sz="2000" b="0">
                <a:solidFill>
                  <a:srgbClr val="2D2D2D"/>
                </a:solidFill>
                <a:latin typeface="Aptos"/>
              </a:defRPr>
            </a:pPr>
            <a:r>
              <a:rPr lang="en-IN" sz="2800" dirty="0">
                <a:latin typeface="Times New Roman" panose="02020603050405020304" pitchFamily="18" charset="0"/>
                <a:cs typeface="Times New Roman" panose="02020603050405020304" pitchFamily="18" charset="0"/>
              </a:rPr>
              <a:t>• This project demonstrates a complete data analysis workflow for road accident data using Python.</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Data cleaning and preprocessing improve the reliability of the analysis.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Visualizations make accident patterns and trends easier to understand.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The analysis helps identify important factors and patterns related to road accidents.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The findings can support better understanding of accident patterns and road safety analysis.</a:t>
            </a:r>
            <a:endParaRPr sz="2800"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533400" y="6096000"/>
            <a:ext cx="9090332" cy="830997"/>
          </a:xfrm>
          <a:prstGeom prst="rect">
            <a:avLst/>
          </a:prstGeom>
          <a:noFill/>
        </p:spPr>
        <p:txBody>
          <a:bodyPr wrap="square">
            <a:spAutoFit/>
          </a:bodyPr>
          <a:lstStyle/>
          <a:p>
            <a:pPr algn="ctr">
              <a:spcAft>
                <a:spcPts val="700"/>
              </a:spcAft>
              <a:defRPr sz="1600" b="1">
                <a:solidFill>
                  <a:srgbClr val="C25B30"/>
                </a:solidFill>
                <a:latin typeface="Aptos"/>
              </a:defRPr>
            </a:pPr>
            <a:r>
              <a:rPr sz="2400" dirty="0">
                <a:latin typeface="Times New Roman" pitchFamily="18" charset="0"/>
                <a:cs typeface="Times New Roman" pitchFamily="18" charset="0"/>
              </a:rPr>
              <a:t>Future scope:</a:t>
            </a:r>
            <a:r>
              <a:rPr lang="en-IN" sz="2400" b="1" dirty="0">
                <a:latin typeface="Times New Roman" panose="02020603050405020304" pitchFamily="18" charset="0"/>
                <a:cs typeface="Times New Roman" panose="02020603050405020304" pitchFamily="18" charset="0"/>
              </a:rPr>
              <a:t>Larger datasets, recent/live data, and predictive analysis can be used for further study.</a:t>
            </a:r>
            <a:endParaRPr sz="24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69419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58400" cy="7772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400" y="0"/>
            <a:ext cx="8219599"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372" y="0"/>
            <a:ext cx="8207655" cy="77724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1257302" y="2266230"/>
            <a:ext cx="7543800" cy="3132565"/>
          </a:xfrm>
          <a:prstGeom prst="rect">
            <a:avLst/>
          </a:prstGeom>
        </p:spPr>
        <p:txBody>
          <a:bodyPr vert="horz" lIns="91440" tIns="45720" rIns="91440" bIns="45720" rtlCol="0" anchor="ctr">
            <a:normAutofit/>
          </a:bodyPr>
          <a:lstStyle/>
          <a:p>
            <a:pPr algn="ctr" rtl="0">
              <a:lnSpc>
                <a:spcPct val="90000"/>
              </a:lnSpc>
              <a:spcBef>
                <a:spcPct val="0"/>
              </a:spcBef>
              <a:spcAft>
                <a:spcPts val="700"/>
              </a:spcAft>
              <a:defRPr sz="3400" b="1">
                <a:solidFill>
                  <a:srgbClr val="233464"/>
                </a:solidFill>
                <a:latin typeface="Aptos"/>
              </a:defRPr>
            </a:pPr>
            <a:r>
              <a:rPr lang="en-US" sz="3600" kern="1200" dirty="0">
                <a:solidFill>
                  <a:schemeClr val="tx1"/>
                </a:solidFill>
                <a:latin typeface="Times New Roman" pitchFamily="18" charset="0"/>
                <a:ea typeface="+mj-ea"/>
                <a:cs typeface="Times New Roman" pitchFamily="18" charset="0"/>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67812" y="6261424"/>
            <a:ext cx="3922776" cy="310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object 3">
            <a:extLst>
              <a:ext uri="{FF2B5EF4-FFF2-40B4-BE49-F238E27FC236}">
                <a16:creationId xmlns:a16="http://schemas.microsoft.com/office/drawing/2014/main" id="{A36E30A8-BD1B-0058-4620-F390351DADBD}"/>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3480</TotalTime>
  <Words>866</Words>
  <Application>Microsoft Office PowerPoint</Application>
  <PresentationFormat>Custom</PresentationFormat>
  <Paragraphs>83</Paragraphs>
  <Slides>16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Palatino Linotype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Ravi Sai Chowdary Akkina</cp:lastModifiedBy>
  <cp:revision>112</cp:revision>
  <cp:lastPrinted>2025-10-14T18:21:49Z</cp:lastPrinted>
  <dcterms:created xsi:type="dcterms:W3CDTF">2025-10-10T08:28:06Z</dcterms:created>
  <dcterms:modified xsi:type="dcterms:W3CDTF">2026-10-01T17:01:10Z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